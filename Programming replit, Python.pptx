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3" r:id="rId4"/>
    <p:sldMasterId id="2147483648" r:id="rId5"/>
  </p:sldMasterIdLst>
  <p:notesMasterIdLst>
    <p:notesMasterId r:id="rId34"/>
  </p:notesMasterIdLst>
  <p:handoutMasterIdLst>
    <p:handoutMasterId r:id="rId35"/>
  </p:handoutMasterIdLst>
  <p:sldIdLst>
    <p:sldId id="317" r:id="rId6"/>
    <p:sldId id="308" r:id="rId7"/>
    <p:sldId id="278" r:id="rId8"/>
    <p:sldId id="309" r:id="rId9"/>
    <p:sldId id="322" r:id="rId10"/>
    <p:sldId id="323" r:id="rId11"/>
    <p:sldId id="320" r:id="rId12"/>
    <p:sldId id="324" r:id="rId13"/>
    <p:sldId id="325" r:id="rId14"/>
    <p:sldId id="326" r:id="rId15"/>
    <p:sldId id="310"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11" r:id="rId31"/>
    <p:sldId id="341" r:id="rId32"/>
    <p:sldId id="31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0" autoAdjust="0"/>
    <p:restoredTop sz="95405" autoAdjust="0"/>
  </p:normalViewPr>
  <p:slideViewPr>
    <p:cSldViewPr snapToGrid="0">
      <p:cViewPr varScale="1">
        <p:scale>
          <a:sx n="78" d="100"/>
          <a:sy n="78" d="100"/>
        </p:scale>
        <p:origin x="830"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ytaske, April" userId="53b37724-cab2-4858-924a-26b3885568e7" providerId="ADAL" clId="{1F6A1786-AE65-41DC-A94E-2FD1F84264E6}"/>
    <pc:docChg chg="modSld">
      <pc:chgData name="Wytaske, April" userId="53b37724-cab2-4858-924a-26b3885568e7" providerId="ADAL" clId="{1F6A1786-AE65-41DC-A94E-2FD1F84264E6}" dt="2025-12-04T00:59:58.923" v="13" actId="20577"/>
      <pc:docMkLst>
        <pc:docMk/>
      </pc:docMkLst>
      <pc:sldChg chg="modSp mod">
        <pc:chgData name="Wytaske, April" userId="53b37724-cab2-4858-924a-26b3885568e7" providerId="ADAL" clId="{1F6A1786-AE65-41DC-A94E-2FD1F84264E6}" dt="2025-12-04T00:59:58.923" v="13" actId="20577"/>
        <pc:sldMkLst>
          <pc:docMk/>
          <pc:sldMk cId="1338167130" sldId="317"/>
        </pc:sldMkLst>
        <pc:spChg chg="mod">
          <ac:chgData name="Wytaske, April" userId="53b37724-cab2-4858-924a-26b3885568e7" providerId="ADAL" clId="{1F6A1786-AE65-41DC-A94E-2FD1F84264E6}" dt="2025-12-04T00:59:58.923" v="13" actId="20577"/>
          <ac:spMkLst>
            <pc:docMk/>
            <pc:sldMk cId="1338167130" sldId="317"/>
            <ac:spMk id="3" creationId="{B45A4A65-E8B8-40CF-7ABD-97EA8FA9752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12/3/2025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251386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373021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26</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28</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CDD6B-EC2F-4242-BB01-3ADB2EA056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06E81A-1139-4F60-ADAD-CDBFA2DA7B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1CA7DA-A3ED-424E-96DB-EAC43B3A9C8C}"/>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5" name="Footer Placeholder 4">
            <a:extLst>
              <a:ext uri="{FF2B5EF4-FFF2-40B4-BE49-F238E27FC236}">
                <a16:creationId xmlns:a16="http://schemas.microsoft.com/office/drawing/2014/main" id="{A5620E7B-DE6B-4599-AB9A-D6E6D1C52A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98F17-D1A4-4B40-8467-04543C7AB05F}"/>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1740511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35B90-86EC-492C-8440-5BE029FCA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E4B971-FFBC-444C-9574-9D3B54B7248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E66CA0-A872-4564-80CA-5FEC4ECF6193}"/>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5" name="Footer Placeholder 4">
            <a:extLst>
              <a:ext uri="{FF2B5EF4-FFF2-40B4-BE49-F238E27FC236}">
                <a16:creationId xmlns:a16="http://schemas.microsoft.com/office/drawing/2014/main" id="{F64A1036-6CDC-445C-A420-C8F19AA31D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85A98F-1722-408F-9EAF-DD105A6786D4}"/>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3391061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9E4D1-759E-4B80-9D6F-7700A8CDDC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BD5114-CD19-406E-8705-96803BC300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5A8F7AF-E616-4F57-A855-C02E4119B051}"/>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5" name="Footer Placeholder 4">
            <a:extLst>
              <a:ext uri="{FF2B5EF4-FFF2-40B4-BE49-F238E27FC236}">
                <a16:creationId xmlns:a16="http://schemas.microsoft.com/office/drawing/2014/main" id="{687F85F8-5B2C-49AB-ACE3-206BEDDEC4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69AD0B-2401-4303-B6E3-E10A44089B1F}"/>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589387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44CDF-BB67-47FC-BF1B-DB02A6749C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9A57AE-432B-4C7F-AFD5-02DA1AB1AC2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859AFA-4DCC-4AAB-A636-A768FCC636C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72A2CC-F2EE-4979-8BBC-A34D0009144A}"/>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6" name="Footer Placeholder 5">
            <a:extLst>
              <a:ext uri="{FF2B5EF4-FFF2-40B4-BE49-F238E27FC236}">
                <a16:creationId xmlns:a16="http://schemas.microsoft.com/office/drawing/2014/main" id="{B714CF7A-3807-4981-82FE-9DFBEED4C1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3DDECA-5A1A-4973-9442-C48285448131}"/>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36183197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0A80D-F0D5-4D0E-A595-37B132CF96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2C3DE0-C588-424F-99AD-81C63CBF6A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A99559-C376-4106-B5B8-DE2548E8B77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EC5DA3-BFFC-4144-9DE2-F9BD5D5548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5B6C142-9FBA-441E-A2EE-8A26CD28D1E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13BFF5-7AB9-4517-84AF-11B4195E5D87}"/>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8" name="Footer Placeholder 7">
            <a:extLst>
              <a:ext uri="{FF2B5EF4-FFF2-40B4-BE49-F238E27FC236}">
                <a16:creationId xmlns:a16="http://schemas.microsoft.com/office/drawing/2014/main" id="{64D63660-8C4C-44F0-BB2E-A2E06C0208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585D26-D27D-4780-B4D8-652336F541D3}"/>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6579699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7FB5D-6D01-46C3-90E2-6EF7C7DD98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ABEC61-F94D-46EA-93C3-3D29473CCA2D}"/>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4" name="Footer Placeholder 3">
            <a:extLst>
              <a:ext uri="{FF2B5EF4-FFF2-40B4-BE49-F238E27FC236}">
                <a16:creationId xmlns:a16="http://schemas.microsoft.com/office/drawing/2014/main" id="{4538D31F-B3A3-44A7-BE2E-54CED00163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67FC639-D8CC-4126-AE01-D7ECE4FE3A56}"/>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24361037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D11337-DCED-48AE-9781-145604B22134}"/>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3" name="Footer Placeholder 2">
            <a:extLst>
              <a:ext uri="{FF2B5EF4-FFF2-40B4-BE49-F238E27FC236}">
                <a16:creationId xmlns:a16="http://schemas.microsoft.com/office/drawing/2014/main" id="{B890E84E-2E44-4497-B8AA-769AD7E936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A3588F-8746-4FE0-AB58-50B514C86D3E}"/>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40465300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7E9AD-7C5B-43BF-BC81-663C3B7F41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CB248D-04F1-4ACE-8F99-0844D0618C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034B85-1772-4F38-A7E7-EB8B511E60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6A84CC1-4267-4CC4-88D6-3A28AFF5E728}"/>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6" name="Footer Placeholder 5">
            <a:extLst>
              <a:ext uri="{FF2B5EF4-FFF2-40B4-BE49-F238E27FC236}">
                <a16:creationId xmlns:a16="http://schemas.microsoft.com/office/drawing/2014/main" id="{9E7253FA-41D5-46A5-8FA6-3BB510DA9C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5524AA-7B5D-4D45-A1D6-B2C17247F472}"/>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16186974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1104-3193-4DE3-9579-D9AA8F0EF9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F3E60D-5591-47FB-8383-3CF2A6D2F8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693396-1B46-429A-A1C7-6319CC46E7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13BB73A-2A95-4544-9F11-6D8DF3A138CD}"/>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6" name="Footer Placeholder 5">
            <a:extLst>
              <a:ext uri="{FF2B5EF4-FFF2-40B4-BE49-F238E27FC236}">
                <a16:creationId xmlns:a16="http://schemas.microsoft.com/office/drawing/2014/main" id="{44582299-81B8-4894-B8B7-C1A0EF0D8F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50117A-21AA-4F59-A2B7-7BC19EB7D364}"/>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1826859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4F3F-7F8C-4B62-83A5-552DFB1903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BB7699-2B3A-4817-9AC3-43FD9282F9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93F1A9-6856-45E2-8C6C-5C78A873D91A}"/>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5" name="Footer Placeholder 4">
            <a:extLst>
              <a:ext uri="{FF2B5EF4-FFF2-40B4-BE49-F238E27FC236}">
                <a16:creationId xmlns:a16="http://schemas.microsoft.com/office/drawing/2014/main" id="{7E6807F9-D2C6-4EE6-AE90-327FC32534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B0549-8F58-4348-9920-652E9FEDC9A9}"/>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26377487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41ECD2-AC72-4B39-B658-44039FF9BC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FCE250-D2E2-4148-B0C4-5EEC101D4BA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E6582-DD76-46CC-A4B7-7889DF306095}"/>
              </a:ext>
            </a:extLst>
          </p:cNvPr>
          <p:cNvSpPr>
            <a:spLocks noGrp="1"/>
          </p:cNvSpPr>
          <p:nvPr>
            <p:ph type="dt" sz="half" idx="10"/>
          </p:nvPr>
        </p:nvSpPr>
        <p:spPr/>
        <p:txBody>
          <a:bodyPr/>
          <a:lstStyle/>
          <a:p>
            <a:fld id="{E574BDDD-E77C-4F65-80AE-A2B49D0566BE}" type="datetimeFigureOut">
              <a:rPr lang="en-US" smtClean="0"/>
              <a:t>12/3/2025</a:t>
            </a:fld>
            <a:endParaRPr lang="en-US"/>
          </a:p>
        </p:txBody>
      </p:sp>
      <p:sp>
        <p:nvSpPr>
          <p:cNvPr id="5" name="Footer Placeholder 4">
            <a:extLst>
              <a:ext uri="{FF2B5EF4-FFF2-40B4-BE49-F238E27FC236}">
                <a16:creationId xmlns:a16="http://schemas.microsoft.com/office/drawing/2014/main" id="{E0469BB8-5380-45F6-85BD-37209F96D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11002E-17D0-4016-AA60-4DBD5B8BF72F}"/>
              </a:ext>
            </a:extLst>
          </p:cNvPr>
          <p:cNvSpPr>
            <a:spLocks noGrp="1"/>
          </p:cNvSpPr>
          <p:nvPr>
            <p:ph type="sldNum" sz="quarter" idx="12"/>
          </p:nvPr>
        </p:nvSpPr>
        <p:spPr/>
        <p:txBody>
          <a:bodyPr/>
          <a:lstStyle/>
          <a:p>
            <a:fld id="{6C689097-B4E2-4F9F-9CBE-5C04691F4EBF}" type="slidenum">
              <a:rPr lang="en-US" smtClean="0"/>
              <a:t>‹#›</a:t>
            </a:fld>
            <a:endParaRPr lang="en-US"/>
          </a:p>
        </p:txBody>
      </p:sp>
    </p:spTree>
    <p:extLst>
      <p:ext uri="{BB962C8B-B14F-4D97-AF65-F5344CB8AC3E}">
        <p14:creationId xmlns:p14="http://schemas.microsoft.com/office/powerpoint/2010/main" val="18221053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5428853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84"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85"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317E4F-9347-44CD-9477-1AF2334B84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BCF40D-687B-4129-846D-C33C3CF7D4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95B308-7023-40D0-A9D7-0A50FDE281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74BDDD-E77C-4F65-80AE-A2B49D0566BE}" type="datetimeFigureOut">
              <a:rPr lang="en-US" smtClean="0"/>
              <a:t>12/3/2025</a:t>
            </a:fld>
            <a:endParaRPr lang="en-US"/>
          </a:p>
        </p:txBody>
      </p:sp>
      <p:sp>
        <p:nvSpPr>
          <p:cNvPr id="5" name="Footer Placeholder 4">
            <a:extLst>
              <a:ext uri="{FF2B5EF4-FFF2-40B4-BE49-F238E27FC236}">
                <a16:creationId xmlns:a16="http://schemas.microsoft.com/office/drawing/2014/main" id="{C5B94102-7A5A-4E11-ABC2-D0BBAAF8E0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30775C-EC89-455E-B408-FFCE8D86FA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689097-B4E2-4F9F-9CBE-5C04691F4EBF}" type="slidenum">
              <a:rPr lang="en-US" smtClean="0"/>
              <a:t>‹#›</a:t>
            </a:fld>
            <a:endParaRPr lang="en-US"/>
          </a:p>
        </p:txBody>
      </p:sp>
    </p:spTree>
    <p:extLst>
      <p:ext uri="{BB962C8B-B14F-4D97-AF65-F5344CB8AC3E}">
        <p14:creationId xmlns:p14="http://schemas.microsoft.com/office/powerpoint/2010/main" val="2593387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CEIS110 </a:t>
            </a:r>
            <a:br>
              <a:rPr lang="en-US" dirty="0"/>
            </a:br>
            <a:r>
              <a:rPr lang="en-US" dirty="0"/>
              <a:t>Programming with Data</a:t>
            </a:r>
            <a:br>
              <a:rPr lang="en-US" dirty="0"/>
            </a:br>
            <a:r>
              <a:rPr lang="en-US" dirty="0"/>
              <a:t>Professor </a:t>
            </a:r>
            <a:r>
              <a:rPr lang="en-US" b="0" i="0" dirty="0">
                <a:effectLst/>
                <a:latin typeface="LatoWeb"/>
              </a:rPr>
              <a:t>Dr. Sapijaszko</a:t>
            </a:r>
            <a:br>
              <a:rPr lang="en-US" b="0" i="0" dirty="0">
                <a:effectLst/>
                <a:latin typeface="LatoWeb"/>
              </a:rPr>
            </a:br>
            <a:r>
              <a:rPr lang="en-US" b="0" i="0" dirty="0">
                <a:effectLst/>
                <a:latin typeface="LatoWeb"/>
              </a:rPr>
              <a:t>Date 8/31/2024</a:t>
            </a:r>
            <a:br>
              <a:rPr lang="en-US" b="0" i="0" dirty="0">
                <a:effectLst/>
                <a:latin typeface="LatoWeb"/>
              </a:rPr>
            </a:br>
            <a:r>
              <a:rPr lang="en-US" b="0" i="0" dirty="0">
                <a:effectLst/>
                <a:latin typeface="LatoWeb"/>
              </a:rPr>
              <a:t>By, April Wytaske</a:t>
            </a:r>
            <a:br>
              <a:rPr lang="en-US" b="0" i="0" dirty="0">
                <a:solidFill>
                  <a:srgbClr val="050505"/>
                </a:solidFill>
                <a:effectLst/>
                <a:latin typeface="LatoWeb"/>
              </a:rPr>
            </a:br>
            <a:br>
              <a:rPr lang="en-US" b="0" i="0" dirty="0">
                <a:solidFill>
                  <a:srgbClr val="050505"/>
                </a:solidFill>
                <a:effectLst/>
                <a:latin typeface="LatoWeb"/>
              </a:rPr>
            </a:b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914400" y="914400"/>
            <a:ext cx="5641848" cy="5029200"/>
          </a:xfrm>
        </p:spPr>
        <p:txBody>
          <a:bodyPr/>
          <a:lstStyle/>
          <a:p>
            <a:pPr>
              <a:lnSpc>
                <a:spcPct val="100000"/>
              </a:lnSpc>
            </a:pPr>
            <a:r>
              <a:rPr lang="en-US" dirty="0"/>
              <a:t> </a:t>
            </a:r>
            <a:br>
              <a:rPr lang="en-US" dirty="0"/>
            </a:br>
            <a:br>
              <a:rPr lang="en-US" dirty="0"/>
            </a:br>
            <a:r>
              <a:rPr lang="en-US" dirty="0"/>
              <a:t>    </a:t>
            </a:r>
            <a:r>
              <a:rPr lang="en-US" i="1" dirty="0"/>
              <a:t>Introduction</a:t>
            </a:r>
            <a:br>
              <a:rPr lang="en-US" i="1" dirty="0"/>
            </a:br>
            <a:br>
              <a:rPr lang="en-US" dirty="0"/>
            </a:br>
            <a:r>
              <a:rPr lang="en-US" sz="3200" dirty="0"/>
              <a:t>Data is growing worldwide.</a:t>
            </a:r>
            <a:br>
              <a:rPr lang="en-US" sz="3200" dirty="0"/>
            </a:br>
            <a:br>
              <a:rPr lang="en-US" sz="3200" dirty="0"/>
            </a:br>
            <a:r>
              <a:rPr lang="en-US" sz="3200" dirty="0"/>
              <a:t>This project used a cloud-based system to gather temperature and humidity data.</a:t>
            </a:r>
            <a:br>
              <a:rPr lang="en-US" sz="3200" dirty="0"/>
            </a:br>
            <a:br>
              <a:rPr lang="en-US" sz="3200" dirty="0"/>
            </a:br>
            <a:r>
              <a:rPr lang="en-US" sz="3200" dirty="0"/>
              <a:t>Then the data was analyzed using programming and data analyses.</a:t>
            </a:r>
          </a:p>
        </p:txBody>
      </p:sp>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7EBBC0-A24E-C533-2734-DCC98E5A7C54}"/>
              </a:ext>
            </a:extLst>
          </p:cNvPr>
          <p:cNvSpPr>
            <a:spLocks noGrp="1"/>
          </p:cNvSpPr>
          <p:nvPr>
            <p:ph type="title"/>
          </p:nvPr>
        </p:nvSpPr>
        <p:spPr>
          <a:xfrm>
            <a:off x="1340407" y="312822"/>
            <a:ext cx="5046134" cy="938463"/>
          </a:xfrm>
        </p:spPr>
        <p:txBody>
          <a:bodyPr/>
          <a:lstStyle/>
          <a:p>
            <a:r>
              <a:rPr lang="en-US" i="1" dirty="0"/>
              <a:t>Software Used</a:t>
            </a:r>
          </a:p>
        </p:txBody>
      </p:sp>
      <p:sp>
        <p:nvSpPr>
          <p:cNvPr id="7" name="Content Placeholder 6">
            <a:extLst>
              <a:ext uri="{FF2B5EF4-FFF2-40B4-BE49-F238E27FC236}">
                <a16:creationId xmlns:a16="http://schemas.microsoft.com/office/drawing/2014/main" id="{83BCEE03-20B4-13C8-5D3B-1CD727E14877}"/>
              </a:ext>
            </a:extLst>
          </p:cNvPr>
          <p:cNvSpPr>
            <a:spLocks noGrp="1"/>
          </p:cNvSpPr>
          <p:nvPr>
            <p:ph idx="10"/>
          </p:nvPr>
        </p:nvSpPr>
        <p:spPr>
          <a:xfrm>
            <a:off x="1701355" y="2341345"/>
            <a:ext cx="5449824" cy="1280160"/>
          </a:xfrm>
        </p:spPr>
        <p:txBody>
          <a:bodyPr/>
          <a:lstStyle/>
          <a:p>
            <a:r>
              <a:rPr lang="en-US" sz="3200" dirty="0"/>
              <a:t>Replit</a:t>
            </a:r>
          </a:p>
          <a:p>
            <a:r>
              <a:rPr lang="en-US" sz="3200" dirty="0"/>
              <a:t>Python</a:t>
            </a:r>
          </a:p>
          <a:p>
            <a:r>
              <a:rPr lang="en-US" sz="3200" dirty="0"/>
              <a:t>Excel</a:t>
            </a:r>
          </a:p>
        </p:txBody>
      </p:sp>
    </p:spTree>
    <p:extLst>
      <p:ext uri="{BB962C8B-B14F-4D97-AF65-F5344CB8AC3E}">
        <p14:creationId xmlns:p14="http://schemas.microsoft.com/office/powerpoint/2010/main" val="520000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US" i="1" dirty="0"/>
              <a:t>Module 2</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a:t>
            </a:fld>
            <a:endParaRPr lang="en-US" dirty="0"/>
          </a:p>
        </p:txBody>
      </p:sp>
      <p:sp>
        <p:nvSpPr>
          <p:cNvPr id="4" name="Content Placeholder 3">
            <a:extLst>
              <a:ext uri="{FF2B5EF4-FFF2-40B4-BE49-F238E27FC236}">
                <a16:creationId xmlns:a16="http://schemas.microsoft.com/office/drawing/2014/main" id="{D9C15D9A-F504-F461-2AC7-EABA4759E15B}"/>
              </a:ext>
            </a:extLst>
          </p:cNvPr>
          <p:cNvSpPr>
            <a:spLocks noGrp="1"/>
          </p:cNvSpPr>
          <p:nvPr>
            <p:ph sz="quarter" idx="10"/>
          </p:nvPr>
        </p:nvSpPr>
        <p:spPr/>
        <p:txBody>
          <a:bodyPr>
            <a:normAutofit/>
          </a:bodyPr>
          <a:lstStyle/>
          <a:p>
            <a:r>
              <a:rPr lang="en-US" sz="3600" dirty="0"/>
              <a:t>Flowchart </a:t>
            </a:r>
          </a:p>
          <a:p>
            <a:r>
              <a:rPr lang="en-US" sz="3600" dirty="0"/>
              <a:t>Noaa SDK installation</a:t>
            </a:r>
          </a:p>
        </p:txBody>
      </p:sp>
    </p:spTree>
    <p:extLst>
      <p:ext uri="{BB962C8B-B14F-4D97-AF65-F5344CB8AC3E}">
        <p14:creationId xmlns:p14="http://schemas.microsoft.com/office/powerpoint/2010/main" val="1966913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0DED-E942-4274-A5C5-61D0403EDC64}"/>
              </a:ext>
            </a:extLst>
          </p:cNvPr>
          <p:cNvSpPr>
            <a:spLocks noGrp="1"/>
          </p:cNvSpPr>
          <p:nvPr>
            <p:ph type="title"/>
          </p:nvPr>
        </p:nvSpPr>
        <p:spPr>
          <a:xfrm>
            <a:off x="666044" y="476955"/>
            <a:ext cx="4049536" cy="1701799"/>
          </a:xfrm>
        </p:spPr>
        <p:txBody>
          <a:bodyPr>
            <a:normAutofit/>
          </a:bodyPr>
          <a:lstStyle/>
          <a:p>
            <a:r>
              <a:rPr lang="en-US" sz="4400" dirty="0"/>
              <a:t>Flowchart</a:t>
            </a:r>
          </a:p>
        </p:txBody>
      </p:sp>
      <p:sp>
        <p:nvSpPr>
          <p:cNvPr id="7" name="Text Placeholder 6">
            <a:extLst>
              <a:ext uri="{FF2B5EF4-FFF2-40B4-BE49-F238E27FC236}">
                <a16:creationId xmlns:a16="http://schemas.microsoft.com/office/drawing/2014/main" id="{FADDAB32-E602-42AB-85E5-81A683738955}"/>
              </a:ext>
            </a:extLst>
          </p:cNvPr>
          <p:cNvSpPr>
            <a:spLocks noGrp="1"/>
          </p:cNvSpPr>
          <p:nvPr>
            <p:ph type="body" sz="half" idx="2"/>
          </p:nvPr>
        </p:nvSpPr>
        <p:spPr>
          <a:xfrm>
            <a:off x="1512711" y="2269067"/>
            <a:ext cx="3409245" cy="3441876"/>
          </a:xfrm>
        </p:spPr>
        <p:txBody>
          <a:bodyPr/>
          <a:lstStyle/>
          <a:p>
            <a:r>
              <a:rPr lang="en-US" dirty="0"/>
              <a:t>Include the following processes:</a:t>
            </a:r>
          </a:p>
          <a:p>
            <a:pPr>
              <a:spcBef>
                <a:spcPts val="0"/>
              </a:spcBef>
              <a:spcAft>
                <a:spcPts val="0"/>
              </a:spcAft>
            </a:pPr>
            <a:endParaRPr lang="en-US" dirty="0">
              <a:effectLst/>
            </a:endParaRPr>
          </a:p>
          <a:p>
            <a:pPr marL="742950" marR="0" lvl="1" indent="-285750">
              <a:spcBef>
                <a:spcPts val="0"/>
              </a:spcBef>
              <a:spcAft>
                <a:spcPts val="0"/>
              </a:spcAft>
              <a:buFont typeface="+mj-lt"/>
              <a:buAutoNum type="alphaLcPeriod"/>
            </a:pPr>
            <a:r>
              <a:rPr lang="en-US" sz="1000" dirty="0">
                <a:effectLst/>
                <a:latin typeface="Times New Roman" panose="02020603050405020304" pitchFamily="18" charset="0"/>
                <a:ea typeface="Times New Roman" panose="02020603050405020304" pitchFamily="18" charset="0"/>
              </a:rPr>
              <a:t>Run a basic python program</a:t>
            </a:r>
          </a:p>
          <a:p>
            <a:pPr marL="742950" marR="0" lvl="1" indent="-285750">
              <a:spcBef>
                <a:spcPts val="0"/>
              </a:spcBef>
              <a:spcAft>
                <a:spcPts val="0"/>
              </a:spcAft>
              <a:buFont typeface="+mj-lt"/>
              <a:buAutoNum type="alphaLcPeriod"/>
            </a:pPr>
            <a:r>
              <a:rPr lang="en-US" sz="1000" dirty="0">
                <a:effectLst/>
                <a:latin typeface="Times New Roman" panose="02020603050405020304" pitchFamily="18" charset="0"/>
                <a:ea typeface="Times New Roman" panose="02020603050405020304" pitchFamily="18" charset="0"/>
              </a:rPr>
              <a:t>Download weather data to a database.</a:t>
            </a:r>
          </a:p>
          <a:p>
            <a:pPr marL="742950" marR="0" lvl="1" indent="-285750">
              <a:spcBef>
                <a:spcPts val="0"/>
              </a:spcBef>
              <a:spcAft>
                <a:spcPts val="0"/>
              </a:spcAft>
              <a:buFont typeface="+mj-lt"/>
              <a:buAutoNum type="alphaLcPeriod"/>
            </a:pPr>
            <a:r>
              <a:rPr lang="en-US" sz="1000" dirty="0">
                <a:effectLst/>
                <a:latin typeface="Times New Roman" panose="02020603050405020304" pitchFamily="18" charset="0"/>
                <a:ea typeface="Times New Roman" panose="02020603050405020304" pitchFamily="18" charset="0"/>
              </a:rPr>
              <a:t>Query the weather data </a:t>
            </a:r>
          </a:p>
          <a:p>
            <a:pPr marL="742950" marR="0" lvl="1" indent="-285750">
              <a:spcBef>
                <a:spcPts val="0"/>
              </a:spcBef>
              <a:spcAft>
                <a:spcPts val="0"/>
              </a:spcAft>
              <a:buFont typeface="+mj-lt"/>
              <a:buAutoNum type="alphaLcPeriod"/>
            </a:pPr>
            <a:r>
              <a:rPr lang="en-US" sz="1000" dirty="0">
                <a:effectLst/>
                <a:latin typeface="Times New Roman" panose="02020603050405020304" pitchFamily="18" charset="0"/>
                <a:ea typeface="Times New Roman" panose="02020603050405020304" pitchFamily="18" charset="0"/>
              </a:rPr>
              <a:t>Extract weather data from database into a comma separated file with python</a:t>
            </a:r>
          </a:p>
          <a:p>
            <a:pPr marL="742950" marR="0" lvl="1" indent="-285750">
              <a:spcBef>
                <a:spcPts val="0"/>
              </a:spcBef>
              <a:spcAft>
                <a:spcPts val="0"/>
              </a:spcAft>
              <a:buFont typeface="+mj-lt"/>
              <a:buAutoNum type="alphaLcPeriod"/>
            </a:pPr>
            <a:r>
              <a:rPr lang="en-US" sz="1000" dirty="0">
                <a:effectLst/>
                <a:latin typeface="Times New Roman" panose="02020603050405020304" pitchFamily="18" charset="0"/>
                <a:ea typeface="Times New Roman" panose="02020603050405020304" pitchFamily="18" charset="0"/>
              </a:rPr>
              <a:t>Cleanse weather data</a:t>
            </a:r>
          </a:p>
          <a:p>
            <a:pPr marL="742950" marR="0" lvl="1" indent="-285750">
              <a:spcBef>
                <a:spcPts val="0"/>
              </a:spcBef>
              <a:spcAft>
                <a:spcPts val="0"/>
              </a:spcAft>
              <a:buFont typeface="+mj-lt"/>
              <a:buAutoNum type="alphaLcPeriod"/>
            </a:pPr>
            <a:r>
              <a:rPr lang="en-US" sz="1000" dirty="0">
                <a:effectLst/>
                <a:latin typeface="Times New Roman" panose="02020603050405020304" pitchFamily="18" charset="0"/>
                <a:ea typeface="Times New Roman" panose="02020603050405020304" pitchFamily="18" charset="0"/>
              </a:rPr>
              <a:t>Use python data analytics modules to develop graphical models</a:t>
            </a:r>
          </a:p>
          <a:p>
            <a:pPr marL="285750" indent="-285750">
              <a:buFont typeface="Arial" panose="020B0604020202020204" pitchFamily="34" charset="0"/>
              <a:buChar char="•"/>
            </a:pPr>
            <a:endParaRPr lang="en-US" dirty="0"/>
          </a:p>
          <a:p>
            <a:endParaRPr lang="en-US" dirty="0"/>
          </a:p>
          <a:p>
            <a:endParaRPr lang="en-US" dirty="0"/>
          </a:p>
          <a:p>
            <a:endParaRPr lang="en-US" dirty="0"/>
          </a:p>
        </p:txBody>
      </p:sp>
      <p:pic>
        <p:nvPicPr>
          <p:cNvPr id="1026" name="Picture 2">
            <a:extLst>
              <a:ext uri="{FF2B5EF4-FFF2-40B4-BE49-F238E27FC236}">
                <a16:creationId xmlns:a16="http://schemas.microsoft.com/office/drawing/2014/main" id="{434FF6CD-0D5B-5F55-C42C-03B965984C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4892" y="278856"/>
            <a:ext cx="2512321" cy="5688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618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a:xfrm>
            <a:off x="839789" y="457200"/>
            <a:ext cx="3046412" cy="1600200"/>
          </a:xfrm>
        </p:spPr>
        <p:txBody>
          <a:bodyPr>
            <a:normAutofit fontScale="90000"/>
          </a:bodyPr>
          <a:lstStyle/>
          <a:p>
            <a:r>
              <a:rPr lang="en-US" sz="4400" dirty="0"/>
              <a:t>Python program</a:t>
            </a:r>
            <a:br>
              <a:rPr lang="en-US" sz="4400" dirty="0"/>
            </a:br>
            <a:r>
              <a:rPr lang="en-US" sz="4400" dirty="0"/>
              <a:t>(Screenshot)</a:t>
            </a:r>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p:txBody>
          <a:bodyPr/>
          <a:lstStyle/>
          <a:p>
            <a:r>
              <a:rPr lang="en-US" dirty="0"/>
              <a:t>Include screenshot of successful python program</a:t>
            </a:r>
          </a:p>
          <a:p>
            <a:endParaRPr lang="en-US" dirty="0"/>
          </a:p>
          <a:p>
            <a:endParaRPr lang="en-US" dirty="0"/>
          </a:p>
        </p:txBody>
      </p:sp>
      <p:pic>
        <p:nvPicPr>
          <p:cNvPr id="4" name="Picture 3">
            <a:extLst>
              <a:ext uri="{FF2B5EF4-FFF2-40B4-BE49-F238E27FC236}">
                <a16:creationId xmlns:a16="http://schemas.microsoft.com/office/drawing/2014/main" id="{3FB8D900-F27B-BA87-9507-C086ED893B96}"/>
              </a:ext>
            </a:extLst>
          </p:cNvPr>
          <p:cNvPicPr>
            <a:picLocks noChangeAspect="1"/>
          </p:cNvPicPr>
          <p:nvPr/>
        </p:nvPicPr>
        <p:blipFill>
          <a:blip r:embed="rId2"/>
          <a:stretch>
            <a:fillRect/>
          </a:stretch>
        </p:blipFill>
        <p:spPr>
          <a:xfrm>
            <a:off x="4203289" y="2283558"/>
            <a:ext cx="7830473" cy="4243258"/>
          </a:xfrm>
          <a:prstGeom prst="rect">
            <a:avLst/>
          </a:prstGeom>
        </p:spPr>
      </p:pic>
    </p:spTree>
    <p:extLst>
      <p:ext uri="{BB962C8B-B14F-4D97-AF65-F5344CB8AC3E}">
        <p14:creationId xmlns:p14="http://schemas.microsoft.com/office/powerpoint/2010/main" val="1857308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BFD83-93C1-CCC5-95C9-A14F8A20160D}"/>
              </a:ext>
            </a:extLst>
          </p:cNvPr>
          <p:cNvSpPr>
            <a:spLocks noGrp="1"/>
          </p:cNvSpPr>
          <p:nvPr>
            <p:ph type="title"/>
          </p:nvPr>
        </p:nvSpPr>
        <p:spPr/>
        <p:txBody>
          <a:bodyPr/>
          <a:lstStyle/>
          <a:p>
            <a:r>
              <a:rPr lang="en-US" i="1" dirty="0"/>
              <a:t>Module 3</a:t>
            </a:r>
          </a:p>
        </p:txBody>
      </p:sp>
      <p:sp>
        <p:nvSpPr>
          <p:cNvPr id="3" name="Content Placeholder 2">
            <a:extLst>
              <a:ext uri="{FF2B5EF4-FFF2-40B4-BE49-F238E27FC236}">
                <a16:creationId xmlns:a16="http://schemas.microsoft.com/office/drawing/2014/main" id="{9F32DD0E-A07F-A5E9-DBF7-AA76C8929E92}"/>
              </a:ext>
            </a:extLst>
          </p:cNvPr>
          <p:cNvSpPr>
            <a:spLocks noGrp="1"/>
          </p:cNvSpPr>
          <p:nvPr>
            <p:ph sz="quarter" idx="10"/>
          </p:nvPr>
        </p:nvSpPr>
        <p:spPr/>
        <p:txBody>
          <a:bodyPr>
            <a:normAutofit/>
          </a:bodyPr>
          <a:lstStyle/>
          <a:p>
            <a:r>
              <a:rPr lang="en-US" sz="3600" dirty="0"/>
              <a:t>Downloaded weather data</a:t>
            </a:r>
          </a:p>
        </p:txBody>
      </p:sp>
      <p:sp>
        <p:nvSpPr>
          <p:cNvPr id="4" name="Slide Number Placeholder 3">
            <a:extLst>
              <a:ext uri="{FF2B5EF4-FFF2-40B4-BE49-F238E27FC236}">
                <a16:creationId xmlns:a16="http://schemas.microsoft.com/office/drawing/2014/main" id="{7771643B-FC02-695C-6ED0-007728440C91}"/>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174334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0DED-E942-4274-A5C5-61D0403EDC64}"/>
              </a:ext>
            </a:extLst>
          </p:cNvPr>
          <p:cNvSpPr>
            <a:spLocks noGrp="1"/>
          </p:cNvSpPr>
          <p:nvPr>
            <p:ph type="title"/>
          </p:nvPr>
        </p:nvSpPr>
        <p:spPr/>
        <p:txBody>
          <a:bodyPr>
            <a:normAutofit fontScale="90000"/>
          </a:bodyPr>
          <a:lstStyle/>
          <a:p>
            <a:r>
              <a:rPr lang="en-US" sz="4400" dirty="0"/>
              <a:t>BuildWeatherDb.py Code (Screenshot)</a:t>
            </a:r>
          </a:p>
        </p:txBody>
      </p:sp>
      <p:sp>
        <p:nvSpPr>
          <p:cNvPr id="7" name="Text Placeholder 6">
            <a:extLst>
              <a:ext uri="{FF2B5EF4-FFF2-40B4-BE49-F238E27FC236}">
                <a16:creationId xmlns:a16="http://schemas.microsoft.com/office/drawing/2014/main" id="{FADDAB32-E602-42AB-85E5-81A683738955}"/>
              </a:ext>
            </a:extLst>
          </p:cNvPr>
          <p:cNvSpPr>
            <a:spLocks noGrp="1"/>
          </p:cNvSpPr>
          <p:nvPr>
            <p:ph type="body" sz="half" idx="2"/>
          </p:nvPr>
        </p:nvSpPr>
        <p:spPr/>
        <p:txBody>
          <a:bodyPr/>
          <a:lstStyle/>
          <a:p>
            <a:r>
              <a:rPr lang="en-US" dirty="0"/>
              <a:t>Screenshot of code </a:t>
            </a:r>
            <a:r>
              <a:rPr lang="en-US"/>
              <a:t>in Spyder</a:t>
            </a:r>
            <a:endParaRPr lang="en-US" dirty="0"/>
          </a:p>
          <a:p>
            <a:r>
              <a:rPr lang="en-US" dirty="0"/>
              <a:t>Must have your name and date in the comments</a:t>
            </a:r>
          </a:p>
          <a:p>
            <a:r>
              <a:rPr lang="en-US" dirty="0"/>
              <a:t>Must have your zip code</a:t>
            </a:r>
          </a:p>
          <a:p>
            <a:endParaRPr lang="en-US" dirty="0"/>
          </a:p>
        </p:txBody>
      </p:sp>
      <p:pic>
        <p:nvPicPr>
          <p:cNvPr id="4" name="Picture 3">
            <a:extLst>
              <a:ext uri="{FF2B5EF4-FFF2-40B4-BE49-F238E27FC236}">
                <a16:creationId xmlns:a16="http://schemas.microsoft.com/office/drawing/2014/main" id="{FF9FF449-C860-9185-F3E0-754E6FF54980}"/>
              </a:ext>
            </a:extLst>
          </p:cNvPr>
          <p:cNvPicPr>
            <a:picLocks noChangeAspect="1"/>
          </p:cNvPicPr>
          <p:nvPr/>
        </p:nvPicPr>
        <p:blipFill>
          <a:blip r:embed="rId2"/>
          <a:stretch>
            <a:fillRect/>
          </a:stretch>
        </p:blipFill>
        <p:spPr>
          <a:xfrm>
            <a:off x="6231858" y="358812"/>
            <a:ext cx="4806960" cy="6140375"/>
          </a:xfrm>
          <a:prstGeom prst="rect">
            <a:avLst/>
          </a:prstGeom>
        </p:spPr>
      </p:pic>
    </p:spTree>
    <p:extLst>
      <p:ext uri="{BB962C8B-B14F-4D97-AF65-F5344CB8AC3E}">
        <p14:creationId xmlns:p14="http://schemas.microsoft.com/office/powerpoint/2010/main" val="3880799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p:txBody>
          <a:bodyPr>
            <a:normAutofit/>
          </a:bodyPr>
          <a:lstStyle/>
          <a:p>
            <a:r>
              <a:rPr lang="en-US" sz="4400" dirty="0"/>
              <a:t>Python Console</a:t>
            </a:r>
            <a:br>
              <a:rPr lang="en-US" sz="4400" dirty="0"/>
            </a:br>
            <a:r>
              <a:rPr lang="en-US" sz="4400" dirty="0"/>
              <a:t>(Screenshot)</a:t>
            </a:r>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p:txBody>
          <a:bodyPr/>
          <a:lstStyle/>
          <a:p>
            <a:r>
              <a:rPr lang="en-US" dirty="0"/>
              <a:t>Screenshot of program output in Python console showing program executed  successfully</a:t>
            </a:r>
          </a:p>
          <a:p>
            <a:endParaRPr lang="en-US" dirty="0"/>
          </a:p>
        </p:txBody>
      </p:sp>
      <p:pic>
        <p:nvPicPr>
          <p:cNvPr id="4" name="Picture 3">
            <a:extLst>
              <a:ext uri="{FF2B5EF4-FFF2-40B4-BE49-F238E27FC236}">
                <a16:creationId xmlns:a16="http://schemas.microsoft.com/office/drawing/2014/main" id="{6F054D30-1E02-4583-3046-0F97FA5982D4}"/>
              </a:ext>
            </a:extLst>
          </p:cNvPr>
          <p:cNvPicPr>
            <a:picLocks noChangeAspect="1"/>
          </p:cNvPicPr>
          <p:nvPr/>
        </p:nvPicPr>
        <p:blipFill>
          <a:blip r:embed="rId2"/>
          <a:stretch>
            <a:fillRect/>
          </a:stretch>
        </p:blipFill>
        <p:spPr>
          <a:xfrm>
            <a:off x="6534271" y="228600"/>
            <a:ext cx="4297381" cy="6400800"/>
          </a:xfrm>
          <a:prstGeom prst="rect">
            <a:avLst/>
          </a:prstGeom>
        </p:spPr>
      </p:pic>
    </p:spTree>
    <p:extLst>
      <p:ext uri="{BB962C8B-B14F-4D97-AF65-F5344CB8AC3E}">
        <p14:creationId xmlns:p14="http://schemas.microsoft.com/office/powerpoint/2010/main" val="1503017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p:txBody>
          <a:bodyPr>
            <a:normAutofit/>
          </a:bodyPr>
          <a:lstStyle/>
          <a:p>
            <a:r>
              <a:rPr lang="en-US" sz="4400" dirty="0"/>
              <a:t>Weather.db File</a:t>
            </a:r>
            <a:br>
              <a:rPr lang="en-US" sz="4400" dirty="0"/>
            </a:br>
            <a:r>
              <a:rPr lang="en-US" sz="4400" dirty="0"/>
              <a:t>(Screenshot)</a:t>
            </a:r>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p:txBody>
          <a:bodyPr/>
          <a:lstStyle/>
          <a:p>
            <a:r>
              <a:rPr lang="en-US" dirty="0"/>
              <a:t>Screenshot of Windows Explorer showing database file Weather.db was created</a:t>
            </a:r>
          </a:p>
          <a:p>
            <a:endParaRPr lang="en-US" dirty="0"/>
          </a:p>
        </p:txBody>
      </p:sp>
      <p:pic>
        <p:nvPicPr>
          <p:cNvPr id="4" name="Picture 3">
            <a:extLst>
              <a:ext uri="{FF2B5EF4-FFF2-40B4-BE49-F238E27FC236}">
                <a16:creationId xmlns:a16="http://schemas.microsoft.com/office/drawing/2014/main" id="{6D0B8BF6-805D-3002-AE41-DF4BC962E09A}"/>
              </a:ext>
            </a:extLst>
          </p:cNvPr>
          <p:cNvPicPr>
            <a:picLocks noChangeAspect="1"/>
          </p:cNvPicPr>
          <p:nvPr/>
        </p:nvPicPr>
        <p:blipFill>
          <a:blip r:embed="rId2"/>
          <a:stretch>
            <a:fillRect/>
          </a:stretch>
        </p:blipFill>
        <p:spPr>
          <a:xfrm>
            <a:off x="5465156" y="205889"/>
            <a:ext cx="4043728" cy="6446221"/>
          </a:xfrm>
          <a:prstGeom prst="rect">
            <a:avLst/>
          </a:prstGeom>
        </p:spPr>
      </p:pic>
    </p:spTree>
    <p:extLst>
      <p:ext uri="{BB962C8B-B14F-4D97-AF65-F5344CB8AC3E}">
        <p14:creationId xmlns:p14="http://schemas.microsoft.com/office/powerpoint/2010/main" val="1523681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
        <p:nvSpPr>
          <p:cNvPr id="4" name="Title 3">
            <a:extLst>
              <a:ext uri="{FF2B5EF4-FFF2-40B4-BE49-F238E27FC236}">
                <a16:creationId xmlns:a16="http://schemas.microsoft.com/office/drawing/2014/main" id="{14CFA2C6-9CB4-3F82-4A68-E626E2C278DF}"/>
              </a:ext>
            </a:extLst>
          </p:cNvPr>
          <p:cNvSpPr>
            <a:spLocks noGrp="1"/>
          </p:cNvSpPr>
          <p:nvPr>
            <p:ph type="title"/>
          </p:nvPr>
        </p:nvSpPr>
        <p:spPr/>
        <p:txBody>
          <a:bodyPr/>
          <a:lstStyle/>
          <a:p>
            <a:r>
              <a:rPr lang="en-US" i="1" dirty="0"/>
              <a:t>Module 4</a:t>
            </a:r>
          </a:p>
        </p:txBody>
      </p:sp>
      <p:sp>
        <p:nvSpPr>
          <p:cNvPr id="6" name="Content Placeholder 5">
            <a:extLst>
              <a:ext uri="{FF2B5EF4-FFF2-40B4-BE49-F238E27FC236}">
                <a16:creationId xmlns:a16="http://schemas.microsoft.com/office/drawing/2014/main" id="{AC1A92E4-A192-C591-E737-FB1519FC0546}"/>
              </a:ext>
            </a:extLst>
          </p:cNvPr>
          <p:cNvSpPr>
            <a:spLocks noGrp="1"/>
          </p:cNvSpPr>
          <p:nvPr>
            <p:ph sz="quarter" idx="11"/>
          </p:nvPr>
        </p:nvSpPr>
        <p:spPr/>
        <p:txBody>
          <a:bodyPr/>
          <a:lstStyle/>
          <a:p>
            <a:r>
              <a:rPr lang="en-US" dirty="0"/>
              <a:t>Querying Database with SQL</a:t>
            </a:r>
          </a:p>
        </p:txBody>
      </p:sp>
    </p:spTree>
    <p:extLst>
      <p:ext uri="{BB962C8B-B14F-4D97-AF65-F5344CB8AC3E}">
        <p14:creationId xmlns:p14="http://schemas.microsoft.com/office/powerpoint/2010/main" val="4230106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a:xfrm>
            <a:off x="839787" y="987425"/>
            <a:ext cx="3932237" cy="1600200"/>
          </a:xfrm>
        </p:spPr>
        <p:txBody>
          <a:bodyPr>
            <a:normAutofit fontScale="90000"/>
          </a:bodyPr>
          <a:lstStyle/>
          <a:p>
            <a:r>
              <a:rPr lang="en-US" sz="4400" dirty="0"/>
              <a:t>Query to retrieve all columns and all rows (Screenshot)</a:t>
            </a:r>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a:xfrm>
            <a:off x="839788" y="3248166"/>
            <a:ext cx="3932237" cy="2620821"/>
          </a:xfrm>
        </p:spPr>
        <p:txBody>
          <a:bodyPr/>
          <a:lstStyle/>
          <a:p>
            <a:r>
              <a:rPr lang="en-US" dirty="0"/>
              <a:t>Screenshot of SQL query command and results</a:t>
            </a:r>
          </a:p>
        </p:txBody>
      </p:sp>
      <p:pic>
        <p:nvPicPr>
          <p:cNvPr id="4" name="Picture 3">
            <a:extLst>
              <a:ext uri="{FF2B5EF4-FFF2-40B4-BE49-F238E27FC236}">
                <a16:creationId xmlns:a16="http://schemas.microsoft.com/office/drawing/2014/main" id="{8AB5737D-DD54-34B8-A8EF-5B898D5DDEF3}"/>
              </a:ext>
            </a:extLst>
          </p:cNvPr>
          <p:cNvPicPr>
            <a:picLocks noChangeAspect="1"/>
          </p:cNvPicPr>
          <p:nvPr/>
        </p:nvPicPr>
        <p:blipFill>
          <a:blip r:embed="rId2"/>
          <a:stretch>
            <a:fillRect/>
          </a:stretch>
        </p:blipFill>
        <p:spPr>
          <a:xfrm>
            <a:off x="4346344" y="1262475"/>
            <a:ext cx="7703197" cy="4333049"/>
          </a:xfrm>
          <a:prstGeom prst="rect">
            <a:avLst/>
          </a:prstGeom>
        </p:spPr>
      </p:pic>
    </p:spTree>
    <p:extLst>
      <p:ext uri="{BB962C8B-B14F-4D97-AF65-F5344CB8AC3E}">
        <p14:creationId xmlns:p14="http://schemas.microsoft.com/office/powerpoint/2010/main" val="1766836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a:xfrm>
            <a:off x="839788" y="987425"/>
            <a:ext cx="3932237" cy="2738414"/>
          </a:xfrm>
        </p:spPr>
        <p:txBody>
          <a:bodyPr>
            <a:normAutofit fontScale="90000"/>
          </a:bodyPr>
          <a:lstStyle/>
          <a:p>
            <a:r>
              <a:rPr lang="en-US" sz="4400" dirty="0"/>
              <a:t>Query to retrieve lowest and highest temperatures</a:t>
            </a:r>
            <a:br>
              <a:rPr lang="en-US" sz="4400" dirty="0"/>
            </a:br>
            <a:r>
              <a:rPr lang="en-US" sz="4400" dirty="0"/>
              <a:t>(Screenshot)</a:t>
            </a:r>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a:xfrm>
            <a:off x="839788" y="3848668"/>
            <a:ext cx="3932237" cy="2020319"/>
          </a:xfrm>
        </p:spPr>
        <p:txBody>
          <a:bodyPr/>
          <a:lstStyle/>
          <a:p>
            <a:r>
              <a:rPr lang="en-US" dirty="0"/>
              <a:t>Screenshot of SQL query command and results</a:t>
            </a:r>
          </a:p>
          <a:p>
            <a:endParaRPr lang="en-US" dirty="0"/>
          </a:p>
        </p:txBody>
      </p:sp>
      <p:pic>
        <p:nvPicPr>
          <p:cNvPr id="4" name="Picture 3">
            <a:extLst>
              <a:ext uri="{FF2B5EF4-FFF2-40B4-BE49-F238E27FC236}">
                <a16:creationId xmlns:a16="http://schemas.microsoft.com/office/drawing/2014/main" id="{0B4E503D-2409-6712-6932-41D54923619E}"/>
              </a:ext>
            </a:extLst>
          </p:cNvPr>
          <p:cNvPicPr>
            <a:picLocks noChangeAspect="1"/>
          </p:cNvPicPr>
          <p:nvPr/>
        </p:nvPicPr>
        <p:blipFill>
          <a:blip r:embed="rId2"/>
          <a:stretch>
            <a:fillRect/>
          </a:stretch>
        </p:blipFill>
        <p:spPr>
          <a:xfrm>
            <a:off x="4483789" y="987425"/>
            <a:ext cx="7556004" cy="4927618"/>
          </a:xfrm>
          <a:prstGeom prst="rect">
            <a:avLst/>
          </a:prstGeom>
        </p:spPr>
      </p:pic>
    </p:spTree>
    <p:extLst>
      <p:ext uri="{BB962C8B-B14F-4D97-AF65-F5344CB8AC3E}">
        <p14:creationId xmlns:p14="http://schemas.microsoft.com/office/powerpoint/2010/main" val="1778968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a:xfrm>
            <a:off x="839788" y="987425"/>
            <a:ext cx="3932237" cy="2738414"/>
          </a:xfrm>
        </p:spPr>
        <p:txBody>
          <a:bodyPr>
            <a:normAutofit/>
          </a:bodyPr>
          <a:lstStyle/>
          <a:p>
            <a:r>
              <a:rPr lang="en-US" sz="4400" dirty="0"/>
              <a:t>Query to retrieve </a:t>
            </a:r>
            <a:r>
              <a:rPr lang="en-US" sz="4400"/>
              <a:t>all clear days</a:t>
            </a:r>
            <a:br>
              <a:rPr lang="en-US" sz="4400" dirty="0"/>
            </a:br>
            <a:r>
              <a:rPr lang="en-US" sz="4400" dirty="0"/>
              <a:t>(Screenshot)</a:t>
            </a:r>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a:xfrm>
            <a:off x="839788" y="3848668"/>
            <a:ext cx="3932237" cy="2020319"/>
          </a:xfrm>
        </p:spPr>
        <p:txBody>
          <a:bodyPr/>
          <a:lstStyle/>
          <a:p>
            <a:r>
              <a:rPr lang="en-US" dirty="0"/>
              <a:t>Screenshot of SQL query command and results</a:t>
            </a:r>
          </a:p>
          <a:p>
            <a:endParaRPr lang="en-US" dirty="0"/>
          </a:p>
        </p:txBody>
      </p:sp>
      <p:pic>
        <p:nvPicPr>
          <p:cNvPr id="4" name="Picture 3">
            <a:extLst>
              <a:ext uri="{FF2B5EF4-FFF2-40B4-BE49-F238E27FC236}">
                <a16:creationId xmlns:a16="http://schemas.microsoft.com/office/drawing/2014/main" id="{89CBF7F1-2DDC-B6E2-4C93-74F9A6E4FFC8}"/>
              </a:ext>
            </a:extLst>
          </p:cNvPr>
          <p:cNvPicPr>
            <a:picLocks noChangeAspect="1"/>
          </p:cNvPicPr>
          <p:nvPr/>
        </p:nvPicPr>
        <p:blipFill>
          <a:blip r:embed="rId2"/>
          <a:stretch>
            <a:fillRect/>
          </a:stretch>
        </p:blipFill>
        <p:spPr>
          <a:xfrm>
            <a:off x="4611756" y="1398622"/>
            <a:ext cx="7580243" cy="4263886"/>
          </a:xfrm>
          <a:prstGeom prst="rect">
            <a:avLst/>
          </a:prstGeom>
        </p:spPr>
      </p:pic>
    </p:spTree>
    <p:extLst>
      <p:ext uri="{BB962C8B-B14F-4D97-AF65-F5344CB8AC3E}">
        <p14:creationId xmlns:p14="http://schemas.microsoft.com/office/powerpoint/2010/main" val="2761904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15</a:t>
            </a:fld>
            <a:endParaRPr lang="en-US" dirty="0"/>
          </a:p>
        </p:txBody>
      </p:sp>
      <p:sp>
        <p:nvSpPr>
          <p:cNvPr id="4" name="Title 3">
            <a:extLst>
              <a:ext uri="{FF2B5EF4-FFF2-40B4-BE49-F238E27FC236}">
                <a16:creationId xmlns:a16="http://schemas.microsoft.com/office/drawing/2014/main" id="{14CFA2C6-9CB4-3F82-4A68-E626E2C278DF}"/>
              </a:ext>
            </a:extLst>
          </p:cNvPr>
          <p:cNvSpPr>
            <a:spLocks noGrp="1"/>
          </p:cNvSpPr>
          <p:nvPr>
            <p:ph type="title"/>
          </p:nvPr>
        </p:nvSpPr>
        <p:spPr/>
        <p:txBody>
          <a:bodyPr/>
          <a:lstStyle/>
          <a:p>
            <a:r>
              <a:rPr lang="en-US" i="1" dirty="0"/>
              <a:t>Module 5</a:t>
            </a:r>
          </a:p>
        </p:txBody>
      </p:sp>
      <p:sp>
        <p:nvSpPr>
          <p:cNvPr id="6" name="Content Placeholder 5">
            <a:extLst>
              <a:ext uri="{FF2B5EF4-FFF2-40B4-BE49-F238E27FC236}">
                <a16:creationId xmlns:a16="http://schemas.microsoft.com/office/drawing/2014/main" id="{AC1A92E4-A192-C591-E737-FB1519FC0546}"/>
              </a:ext>
            </a:extLst>
          </p:cNvPr>
          <p:cNvSpPr>
            <a:spLocks noGrp="1"/>
          </p:cNvSpPr>
          <p:nvPr>
            <p:ph sz="quarter" idx="11"/>
          </p:nvPr>
        </p:nvSpPr>
        <p:spPr/>
        <p:txBody>
          <a:bodyPr/>
          <a:lstStyle/>
          <a:p>
            <a:r>
              <a:rPr lang="en-US" dirty="0"/>
              <a:t>Extract Data and Analyze with Excel.</a:t>
            </a:r>
          </a:p>
        </p:txBody>
      </p:sp>
    </p:spTree>
    <p:extLst>
      <p:ext uri="{BB962C8B-B14F-4D97-AF65-F5344CB8AC3E}">
        <p14:creationId xmlns:p14="http://schemas.microsoft.com/office/powerpoint/2010/main" val="2666966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0DED-E942-4274-A5C5-61D0403EDC64}"/>
              </a:ext>
            </a:extLst>
          </p:cNvPr>
          <p:cNvSpPr>
            <a:spLocks noGrp="1"/>
          </p:cNvSpPr>
          <p:nvPr>
            <p:ph type="title"/>
          </p:nvPr>
        </p:nvSpPr>
        <p:spPr>
          <a:xfrm>
            <a:off x="839788" y="457200"/>
            <a:ext cx="3932238" cy="1920240"/>
          </a:xfrm>
        </p:spPr>
        <p:txBody>
          <a:bodyPr>
            <a:normAutofit/>
          </a:bodyPr>
          <a:lstStyle/>
          <a:p>
            <a:r>
              <a:rPr lang="en-US" sz="4400" dirty="0"/>
              <a:t>Python code (Screenshot or file)</a:t>
            </a:r>
          </a:p>
        </p:txBody>
      </p:sp>
      <p:sp>
        <p:nvSpPr>
          <p:cNvPr id="7" name="Text Placeholder 6">
            <a:extLst>
              <a:ext uri="{FF2B5EF4-FFF2-40B4-BE49-F238E27FC236}">
                <a16:creationId xmlns:a16="http://schemas.microsoft.com/office/drawing/2014/main" id="{FADDAB32-E602-42AB-85E5-81A683738955}"/>
              </a:ext>
            </a:extLst>
          </p:cNvPr>
          <p:cNvSpPr>
            <a:spLocks noGrp="1"/>
          </p:cNvSpPr>
          <p:nvPr>
            <p:ph type="body" sz="half" idx="2"/>
          </p:nvPr>
        </p:nvSpPr>
        <p:spPr>
          <a:xfrm>
            <a:off x="839787" y="2527663"/>
            <a:ext cx="3932237" cy="3811588"/>
          </a:xfrm>
        </p:spPr>
        <p:txBody>
          <a:bodyPr/>
          <a:lstStyle/>
          <a:p>
            <a:r>
              <a:rPr lang="en-US" dirty="0"/>
              <a:t>ExtractTempHumidity.py Python code with your name and date in comments</a:t>
            </a:r>
          </a:p>
          <a:p>
            <a:endParaRPr lang="en-US" dirty="0"/>
          </a:p>
          <a:p>
            <a:endParaRPr lang="en-US" dirty="0"/>
          </a:p>
        </p:txBody>
      </p:sp>
      <p:pic>
        <p:nvPicPr>
          <p:cNvPr id="4" name="Picture 3">
            <a:extLst>
              <a:ext uri="{FF2B5EF4-FFF2-40B4-BE49-F238E27FC236}">
                <a16:creationId xmlns:a16="http://schemas.microsoft.com/office/drawing/2014/main" id="{25315857-B7A3-FA58-9F1C-9E96D741775A}"/>
              </a:ext>
            </a:extLst>
          </p:cNvPr>
          <p:cNvPicPr>
            <a:picLocks noChangeAspect="1"/>
          </p:cNvPicPr>
          <p:nvPr/>
        </p:nvPicPr>
        <p:blipFill>
          <a:blip r:embed="rId2"/>
          <a:stretch>
            <a:fillRect/>
          </a:stretch>
        </p:blipFill>
        <p:spPr>
          <a:xfrm>
            <a:off x="5309418" y="336884"/>
            <a:ext cx="6334895" cy="6398244"/>
          </a:xfrm>
          <a:prstGeom prst="rect">
            <a:avLst/>
          </a:prstGeom>
        </p:spPr>
      </p:pic>
    </p:spTree>
    <p:extLst>
      <p:ext uri="{BB962C8B-B14F-4D97-AF65-F5344CB8AC3E}">
        <p14:creationId xmlns:p14="http://schemas.microsoft.com/office/powerpoint/2010/main" val="2598458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0DED-E942-4274-A5C5-61D0403EDC64}"/>
              </a:ext>
            </a:extLst>
          </p:cNvPr>
          <p:cNvSpPr>
            <a:spLocks noGrp="1"/>
          </p:cNvSpPr>
          <p:nvPr>
            <p:ph type="title"/>
          </p:nvPr>
        </p:nvSpPr>
        <p:spPr>
          <a:xfrm>
            <a:off x="839788" y="987424"/>
            <a:ext cx="3932238" cy="2315333"/>
          </a:xfrm>
        </p:spPr>
        <p:txBody>
          <a:bodyPr>
            <a:normAutofit fontScale="90000"/>
          </a:bodyPr>
          <a:lstStyle/>
          <a:p>
            <a:r>
              <a:rPr lang="en-US" sz="4400" dirty="0"/>
              <a:t>Retrieve and Convert Data to CSV Format (Screenshot)</a:t>
            </a:r>
          </a:p>
        </p:txBody>
      </p:sp>
      <p:sp>
        <p:nvSpPr>
          <p:cNvPr id="7" name="Text Placeholder 6">
            <a:extLst>
              <a:ext uri="{FF2B5EF4-FFF2-40B4-BE49-F238E27FC236}">
                <a16:creationId xmlns:a16="http://schemas.microsoft.com/office/drawing/2014/main" id="{FADDAB32-E602-42AB-85E5-81A683738955}"/>
              </a:ext>
            </a:extLst>
          </p:cNvPr>
          <p:cNvSpPr>
            <a:spLocks noGrp="1"/>
          </p:cNvSpPr>
          <p:nvPr>
            <p:ph type="body" sz="half" idx="2"/>
          </p:nvPr>
        </p:nvSpPr>
        <p:spPr>
          <a:xfrm>
            <a:off x="839787" y="3575713"/>
            <a:ext cx="3932237" cy="2763538"/>
          </a:xfrm>
        </p:spPr>
        <p:txBody>
          <a:bodyPr/>
          <a:lstStyle/>
          <a:p>
            <a:r>
              <a:rPr lang="en-US" dirty="0"/>
              <a:t>Format data file open in Excel showing 3 columns of data</a:t>
            </a:r>
          </a:p>
          <a:p>
            <a:endParaRPr lang="en-US" dirty="0"/>
          </a:p>
          <a:p>
            <a:endParaRPr lang="en-US" dirty="0"/>
          </a:p>
        </p:txBody>
      </p:sp>
      <p:pic>
        <p:nvPicPr>
          <p:cNvPr id="4" name="Picture 3">
            <a:extLst>
              <a:ext uri="{FF2B5EF4-FFF2-40B4-BE49-F238E27FC236}">
                <a16:creationId xmlns:a16="http://schemas.microsoft.com/office/drawing/2014/main" id="{83BF07AA-B4EF-FC69-D737-61C9A08B2283}"/>
              </a:ext>
            </a:extLst>
          </p:cNvPr>
          <p:cNvPicPr>
            <a:picLocks noChangeAspect="1"/>
          </p:cNvPicPr>
          <p:nvPr/>
        </p:nvPicPr>
        <p:blipFill>
          <a:blip r:embed="rId2"/>
          <a:stretch>
            <a:fillRect/>
          </a:stretch>
        </p:blipFill>
        <p:spPr>
          <a:xfrm>
            <a:off x="6096000" y="310186"/>
            <a:ext cx="3008243" cy="6531054"/>
          </a:xfrm>
          <a:prstGeom prst="rect">
            <a:avLst/>
          </a:prstGeom>
        </p:spPr>
      </p:pic>
    </p:spTree>
    <p:extLst>
      <p:ext uri="{BB962C8B-B14F-4D97-AF65-F5344CB8AC3E}">
        <p14:creationId xmlns:p14="http://schemas.microsoft.com/office/powerpoint/2010/main" val="2666794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a:xfrm>
            <a:off x="839788" y="987425"/>
            <a:ext cx="3932237" cy="1600200"/>
          </a:xfrm>
        </p:spPr>
        <p:txBody>
          <a:bodyPr>
            <a:normAutofit fontScale="90000"/>
          </a:bodyPr>
          <a:lstStyle/>
          <a:p>
            <a:r>
              <a:rPr lang="en-US" sz="4400" dirty="0"/>
              <a:t>Temperature and Humidity Chart</a:t>
            </a:r>
            <a:br>
              <a:rPr lang="en-US" sz="4400" dirty="0"/>
            </a:br>
            <a:r>
              <a:rPr lang="en-US" sz="4400" dirty="0"/>
              <a:t>(Graph)</a:t>
            </a:r>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a:xfrm>
            <a:off x="839788" y="2866030"/>
            <a:ext cx="3932237" cy="3002958"/>
          </a:xfrm>
        </p:spPr>
        <p:txBody>
          <a:bodyPr/>
          <a:lstStyle/>
          <a:p>
            <a:r>
              <a:rPr lang="en-US" dirty="0"/>
              <a:t>Excel chart based on temperature and humidity data from database </a:t>
            </a:r>
          </a:p>
          <a:p>
            <a:endParaRPr lang="en-US" dirty="0"/>
          </a:p>
        </p:txBody>
      </p:sp>
      <p:pic>
        <p:nvPicPr>
          <p:cNvPr id="4" name="Picture 3">
            <a:extLst>
              <a:ext uri="{FF2B5EF4-FFF2-40B4-BE49-F238E27FC236}">
                <a16:creationId xmlns:a16="http://schemas.microsoft.com/office/drawing/2014/main" id="{BDEDAD53-5D4F-A3D5-671A-45FFBD633A5A}"/>
              </a:ext>
            </a:extLst>
          </p:cNvPr>
          <p:cNvPicPr>
            <a:picLocks noChangeAspect="1"/>
          </p:cNvPicPr>
          <p:nvPr/>
        </p:nvPicPr>
        <p:blipFill>
          <a:blip r:embed="rId2"/>
          <a:stretch>
            <a:fillRect/>
          </a:stretch>
        </p:blipFill>
        <p:spPr>
          <a:xfrm>
            <a:off x="5668819" y="2503978"/>
            <a:ext cx="4983912" cy="2850127"/>
          </a:xfrm>
          <a:prstGeom prst="rect">
            <a:avLst/>
          </a:prstGeom>
        </p:spPr>
      </p:pic>
    </p:spTree>
    <p:extLst>
      <p:ext uri="{BB962C8B-B14F-4D97-AF65-F5344CB8AC3E}">
        <p14:creationId xmlns:p14="http://schemas.microsoft.com/office/powerpoint/2010/main" val="3847286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19</a:t>
            </a:fld>
            <a:endParaRPr lang="en-US" dirty="0"/>
          </a:p>
        </p:txBody>
      </p:sp>
      <p:sp>
        <p:nvSpPr>
          <p:cNvPr id="4" name="Title 3">
            <a:extLst>
              <a:ext uri="{FF2B5EF4-FFF2-40B4-BE49-F238E27FC236}">
                <a16:creationId xmlns:a16="http://schemas.microsoft.com/office/drawing/2014/main" id="{14CFA2C6-9CB4-3F82-4A68-E626E2C278DF}"/>
              </a:ext>
            </a:extLst>
          </p:cNvPr>
          <p:cNvSpPr>
            <a:spLocks noGrp="1"/>
          </p:cNvSpPr>
          <p:nvPr>
            <p:ph type="title"/>
          </p:nvPr>
        </p:nvSpPr>
        <p:spPr/>
        <p:txBody>
          <a:bodyPr/>
          <a:lstStyle/>
          <a:p>
            <a:r>
              <a:rPr lang="en-US" i="1" dirty="0"/>
              <a:t>Module 6</a:t>
            </a:r>
          </a:p>
        </p:txBody>
      </p:sp>
      <p:sp>
        <p:nvSpPr>
          <p:cNvPr id="6" name="Content Placeholder 5">
            <a:extLst>
              <a:ext uri="{FF2B5EF4-FFF2-40B4-BE49-F238E27FC236}">
                <a16:creationId xmlns:a16="http://schemas.microsoft.com/office/drawing/2014/main" id="{AC1A92E4-A192-C591-E737-FB1519FC0546}"/>
              </a:ext>
            </a:extLst>
          </p:cNvPr>
          <p:cNvSpPr>
            <a:spLocks noGrp="1"/>
          </p:cNvSpPr>
          <p:nvPr>
            <p:ph sz="quarter" idx="11"/>
          </p:nvPr>
        </p:nvSpPr>
        <p:spPr/>
        <p:txBody>
          <a:bodyPr/>
          <a:lstStyle/>
          <a:p>
            <a:r>
              <a:rPr lang="en-US" dirty="0"/>
              <a:t>Creating and analyzing Python charts and graphs.</a:t>
            </a:r>
          </a:p>
        </p:txBody>
      </p:sp>
    </p:spTree>
    <p:extLst>
      <p:ext uri="{BB962C8B-B14F-4D97-AF65-F5344CB8AC3E}">
        <p14:creationId xmlns:p14="http://schemas.microsoft.com/office/powerpoint/2010/main" val="1410354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0DED-E942-4274-A5C5-61D0403EDC64}"/>
              </a:ext>
            </a:extLst>
          </p:cNvPr>
          <p:cNvSpPr>
            <a:spLocks noGrp="1"/>
          </p:cNvSpPr>
          <p:nvPr>
            <p:ph type="title"/>
          </p:nvPr>
        </p:nvSpPr>
        <p:spPr/>
        <p:txBody>
          <a:bodyPr>
            <a:normAutofit/>
          </a:bodyPr>
          <a:lstStyle/>
          <a:p>
            <a:r>
              <a:rPr lang="en-US" sz="4400" dirty="0"/>
              <a:t>Plot #1</a:t>
            </a:r>
          </a:p>
        </p:txBody>
      </p:sp>
      <p:sp>
        <p:nvSpPr>
          <p:cNvPr id="7" name="Text Placeholder 6">
            <a:extLst>
              <a:ext uri="{FF2B5EF4-FFF2-40B4-BE49-F238E27FC236}">
                <a16:creationId xmlns:a16="http://schemas.microsoft.com/office/drawing/2014/main" id="{FADDAB32-E602-42AB-85E5-81A683738955}"/>
              </a:ext>
            </a:extLst>
          </p:cNvPr>
          <p:cNvSpPr>
            <a:spLocks noGrp="1"/>
          </p:cNvSpPr>
          <p:nvPr>
            <p:ph type="body" sz="half" idx="2"/>
          </p:nvPr>
        </p:nvSpPr>
        <p:spPr/>
        <p:txBody>
          <a:bodyPr/>
          <a:lstStyle/>
          <a:p>
            <a:r>
              <a:rPr lang="en-US" dirty="0"/>
              <a:t>Plot and code used to generate it</a:t>
            </a:r>
          </a:p>
          <a:p>
            <a:pPr marL="285750" indent="-285750">
              <a:buFont typeface="Arial" panose="020B0604020202020204" pitchFamily="34" charset="0"/>
              <a:buChar char="•"/>
            </a:pPr>
            <a:r>
              <a:rPr lang="en-US" dirty="0"/>
              <a:t>Box</a:t>
            </a:r>
          </a:p>
          <a:p>
            <a:pPr marL="285750" indent="-285750">
              <a:buFont typeface="Arial" panose="020B0604020202020204" pitchFamily="34" charset="0"/>
              <a:buChar char="•"/>
            </a:pPr>
            <a:r>
              <a:rPr lang="en-US" dirty="0"/>
              <a:t>Line</a:t>
            </a:r>
          </a:p>
          <a:p>
            <a:pPr marL="285750" indent="-285750">
              <a:buFont typeface="Arial" panose="020B0604020202020204" pitchFamily="34" charset="0"/>
              <a:buChar char="•"/>
            </a:pPr>
            <a:r>
              <a:rPr lang="en-US" dirty="0"/>
              <a:t>Histogram</a:t>
            </a:r>
          </a:p>
          <a:p>
            <a:pPr marL="285750" indent="-285750">
              <a:buFont typeface="Arial" panose="020B0604020202020204" pitchFamily="34" charset="0"/>
              <a:buChar char="•"/>
            </a:pPr>
            <a:r>
              <a:rPr lang="en-US" dirty="0"/>
              <a:t>Scatter</a:t>
            </a:r>
          </a:p>
          <a:p>
            <a:pPr marL="285750" indent="-285750">
              <a:buFont typeface="Arial" panose="020B0604020202020204" pitchFamily="34" charset="0"/>
              <a:buChar char="•"/>
            </a:pPr>
            <a:r>
              <a:rPr lang="en-US" dirty="0"/>
              <a:t>Research your own!</a:t>
            </a:r>
          </a:p>
          <a:p>
            <a:endParaRPr lang="en-US" dirty="0"/>
          </a:p>
          <a:p>
            <a:endParaRPr lang="en-US" dirty="0"/>
          </a:p>
        </p:txBody>
      </p:sp>
      <p:pic>
        <p:nvPicPr>
          <p:cNvPr id="3" name="Picture 2">
            <a:extLst>
              <a:ext uri="{FF2B5EF4-FFF2-40B4-BE49-F238E27FC236}">
                <a16:creationId xmlns:a16="http://schemas.microsoft.com/office/drawing/2014/main" id="{4ACCEF7D-28BC-1936-810C-E7AC98CA5252}"/>
              </a:ext>
            </a:extLst>
          </p:cNvPr>
          <p:cNvPicPr>
            <a:picLocks noChangeAspect="1"/>
          </p:cNvPicPr>
          <p:nvPr/>
        </p:nvPicPr>
        <p:blipFill>
          <a:blip r:embed="rId2"/>
          <a:stretch>
            <a:fillRect/>
          </a:stretch>
        </p:blipFill>
        <p:spPr>
          <a:xfrm flipH="1">
            <a:off x="7108721" y="457200"/>
            <a:ext cx="4774417" cy="4080989"/>
          </a:xfrm>
          <a:prstGeom prst="rect">
            <a:avLst/>
          </a:prstGeom>
        </p:spPr>
      </p:pic>
      <p:pic>
        <p:nvPicPr>
          <p:cNvPr id="4" name="Picture 3">
            <a:extLst>
              <a:ext uri="{FF2B5EF4-FFF2-40B4-BE49-F238E27FC236}">
                <a16:creationId xmlns:a16="http://schemas.microsoft.com/office/drawing/2014/main" id="{3CB96768-AA16-6790-3804-393148367305}"/>
              </a:ext>
            </a:extLst>
          </p:cNvPr>
          <p:cNvPicPr>
            <a:picLocks noChangeAspect="1"/>
          </p:cNvPicPr>
          <p:nvPr/>
        </p:nvPicPr>
        <p:blipFill>
          <a:blip r:embed="rId3"/>
          <a:stretch>
            <a:fillRect/>
          </a:stretch>
        </p:blipFill>
        <p:spPr>
          <a:xfrm>
            <a:off x="3450135" y="3024717"/>
            <a:ext cx="2984225" cy="3026944"/>
          </a:xfrm>
          <a:prstGeom prst="rect">
            <a:avLst/>
          </a:prstGeom>
        </p:spPr>
      </p:pic>
    </p:spTree>
    <p:extLst>
      <p:ext uri="{BB962C8B-B14F-4D97-AF65-F5344CB8AC3E}">
        <p14:creationId xmlns:p14="http://schemas.microsoft.com/office/powerpoint/2010/main" val="1014459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p:txBody>
          <a:bodyPr>
            <a:normAutofit/>
          </a:bodyPr>
          <a:lstStyle/>
          <a:p>
            <a:r>
              <a:rPr lang="en-US" sz="4400" dirty="0"/>
              <a:t>Plot #2</a:t>
            </a:r>
            <a:br>
              <a:rPr lang="en-US" sz="4400" dirty="0"/>
            </a:br>
            <a:r>
              <a:rPr lang="en-US" sz="4400" dirty="0"/>
              <a:t>(Screenshots)</a:t>
            </a:r>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p:txBody>
          <a:bodyPr/>
          <a:lstStyle/>
          <a:p>
            <a:r>
              <a:rPr lang="en-US" dirty="0"/>
              <a:t>Plot and code used to generate it</a:t>
            </a:r>
          </a:p>
          <a:p>
            <a:pPr marL="285750" indent="-285750">
              <a:buFont typeface="Arial" panose="020B0604020202020204" pitchFamily="34" charset="0"/>
              <a:buChar char="•"/>
            </a:pPr>
            <a:r>
              <a:rPr lang="en-US" dirty="0"/>
              <a:t>Box</a:t>
            </a:r>
          </a:p>
          <a:p>
            <a:pPr marL="285750" indent="-285750">
              <a:buFont typeface="Arial" panose="020B0604020202020204" pitchFamily="34" charset="0"/>
              <a:buChar char="•"/>
            </a:pPr>
            <a:r>
              <a:rPr lang="en-US" dirty="0"/>
              <a:t>Line</a:t>
            </a:r>
          </a:p>
          <a:p>
            <a:pPr marL="285750" indent="-285750">
              <a:buFont typeface="Arial" panose="020B0604020202020204" pitchFamily="34" charset="0"/>
              <a:buChar char="•"/>
            </a:pPr>
            <a:r>
              <a:rPr lang="en-US" dirty="0"/>
              <a:t>Histogram</a:t>
            </a:r>
          </a:p>
          <a:p>
            <a:pPr marL="285750" indent="-285750">
              <a:buFont typeface="Arial" panose="020B0604020202020204" pitchFamily="34" charset="0"/>
              <a:buChar char="•"/>
            </a:pPr>
            <a:r>
              <a:rPr lang="en-US" dirty="0"/>
              <a:t>Scatter</a:t>
            </a:r>
          </a:p>
          <a:p>
            <a:pPr marL="285750" indent="-285750">
              <a:buFont typeface="Arial" panose="020B0604020202020204" pitchFamily="34" charset="0"/>
              <a:buChar char="•"/>
            </a:pPr>
            <a:r>
              <a:rPr lang="en-US" dirty="0"/>
              <a:t>Research your own!</a:t>
            </a:r>
          </a:p>
        </p:txBody>
      </p:sp>
      <p:pic>
        <p:nvPicPr>
          <p:cNvPr id="10" name="Picture 9">
            <a:extLst>
              <a:ext uri="{FF2B5EF4-FFF2-40B4-BE49-F238E27FC236}">
                <a16:creationId xmlns:a16="http://schemas.microsoft.com/office/drawing/2014/main" id="{AFBCEB75-D6B2-F8C6-1228-E461D2E57B77}"/>
              </a:ext>
            </a:extLst>
          </p:cNvPr>
          <p:cNvPicPr>
            <a:picLocks noChangeAspect="1"/>
          </p:cNvPicPr>
          <p:nvPr/>
        </p:nvPicPr>
        <p:blipFill>
          <a:blip r:embed="rId2"/>
          <a:stretch>
            <a:fillRect/>
          </a:stretch>
        </p:blipFill>
        <p:spPr>
          <a:xfrm>
            <a:off x="3034743" y="3682975"/>
            <a:ext cx="3474564" cy="2478228"/>
          </a:xfrm>
          <a:prstGeom prst="rect">
            <a:avLst/>
          </a:prstGeom>
        </p:spPr>
      </p:pic>
      <p:pic>
        <p:nvPicPr>
          <p:cNvPr id="12" name="Picture 11">
            <a:extLst>
              <a:ext uri="{FF2B5EF4-FFF2-40B4-BE49-F238E27FC236}">
                <a16:creationId xmlns:a16="http://schemas.microsoft.com/office/drawing/2014/main" id="{59526D89-477F-4081-15CD-4DCE86B5E779}"/>
              </a:ext>
            </a:extLst>
          </p:cNvPr>
          <p:cNvPicPr>
            <a:picLocks noChangeAspect="1"/>
          </p:cNvPicPr>
          <p:nvPr/>
        </p:nvPicPr>
        <p:blipFill>
          <a:blip r:embed="rId3"/>
          <a:stretch>
            <a:fillRect/>
          </a:stretch>
        </p:blipFill>
        <p:spPr>
          <a:xfrm>
            <a:off x="6755330" y="457200"/>
            <a:ext cx="5110258" cy="4237308"/>
          </a:xfrm>
          <a:prstGeom prst="rect">
            <a:avLst/>
          </a:prstGeom>
        </p:spPr>
      </p:pic>
    </p:spTree>
    <p:extLst>
      <p:ext uri="{BB962C8B-B14F-4D97-AF65-F5344CB8AC3E}">
        <p14:creationId xmlns:p14="http://schemas.microsoft.com/office/powerpoint/2010/main" val="3865555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p:txBody>
          <a:bodyPr>
            <a:normAutofit/>
          </a:bodyPr>
          <a:lstStyle/>
          <a:p>
            <a:r>
              <a:rPr lang="en-US" sz="4400" dirty="0"/>
              <a:t>Analysis</a:t>
            </a:r>
            <a:br>
              <a:rPr lang="en-US" sz="4400" dirty="0"/>
            </a:br>
            <a:endParaRPr lang="en-US" sz="4400" dirty="0"/>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a:xfrm>
            <a:off x="839788" y="2057400"/>
            <a:ext cx="4411481" cy="3811588"/>
          </a:xfrm>
        </p:spPr>
        <p:txBody>
          <a:bodyPr>
            <a:normAutofit lnSpcReduction="10000"/>
          </a:bodyPr>
          <a:lstStyle/>
          <a:p>
            <a:pPr marL="285750" indent="-285750">
              <a:buFont typeface="Arial" panose="020B0604020202020204" pitchFamily="34" charset="0"/>
              <a:buChar char="•"/>
            </a:pPr>
            <a:r>
              <a:rPr lang="en-US" dirty="0"/>
              <a:t>Think of your own question and create a chart/graph to answer it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Your own question:</a:t>
            </a:r>
          </a:p>
          <a:p>
            <a:pPr marL="285750" indent="-285750">
              <a:buFont typeface="Arial" panose="020B0604020202020204" pitchFamily="34" charset="0"/>
              <a:buChar char="•"/>
            </a:pPr>
            <a:r>
              <a:rPr lang="en-US" dirty="0"/>
              <a:t> Is there a relationship between temperature and humidity?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Answer supported by Chart:</a:t>
            </a:r>
          </a:p>
          <a:p>
            <a:pPr marL="285750" indent="-285750">
              <a:buFont typeface="Arial" panose="020B0604020202020204" pitchFamily="34" charset="0"/>
              <a:buChar char="•"/>
            </a:pPr>
            <a:r>
              <a:rPr lang="en-US" dirty="0"/>
              <a:t>When temperature goes up humidity goes down vice versa.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p:txBody>
      </p:sp>
      <p:pic>
        <p:nvPicPr>
          <p:cNvPr id="5" name="Picture 4">
            <a:extLst>
              <a:ext uri="{FF2B5EF4-FFF2-40B4-BE49-F238E27FC236}">
                <a16:creationId xmlns:a16="http://schemas.microsoft.com/office/drawing/2014/main" id="{6BC219FC-A110-7CAC-4F6E-F7633B1D0D15}"/>
              </a:ext>
            </a:extLst>
          </p:cNvPr>
          <p:cNvPicPr>
            <a:picLocks noChangeAspect="1"/>
          </p:cNvPicPr>
          <p:nvPr/>
        </p:nvPicPr>
        <p:blipFill>
          <a:blip r:embed="rId2"/>
          <a:stretch>
            <a:fillRect/>
          </a:stretch>
        </p:blipFill>
        <p:spPr>
          <a:xfrm>
            <a:off x="5736245" y="457200"/>
            <a:ext cx="5346509" cy="4270482"/>
          </a:xfrm>
          <a:prstGeom prst="rect">
            <a:avLst/>
          </a:prstGeom>
        </p:spPr>
      </p:pic>
    </p:spTree>
    <p:extLst>
      <p:ext uri="{BB962C8B-B14F-4D97-AF65-F5344CB8AC3E}">
        <p14:creationId xmlns:p14="http://schemas.microsoft.com/office/powerpoint/2010/main" val="3499379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F965-A9E4-4FB1-BE6E-F3F2689FD91F}"/>
              </a:ext>
            </a:extLst>
          </p:cNvPr>
          <p:cNvSpPr>
            <a:spLocks noGrp="1"/>
          </p:cNvSpPr>
          <p:nvPr>
            <p:ph type="title"/>
          </p:nvPr>
        </p:nvSpPr>
        <p:spPr/>
        <p:txBody>
          <a:bodyPr>
            <a:normAutofit/>
          </a:bodyPr>
          <a:lstStyle/>
          <a:p>
            <a:r>
              <a:rPr lang="en-US" sz="4400" dirty="0"/>
              <a:t>Prediction</a:t>
            </a:r>
            <a:br>
              <a:rPr lang="en-US" sz="4400" dirty="0"/>
            </a:br>
            <a:endParaRPr lang="en-US" sz="4400" dirty="0"/>
          </a:p>
        </p:txBody>
      </p:sp>
      <p:sp>
        <p:nvSpPr>
          <p:cNvPr id="7" name="Text Placeholder 6">
            <a:extLst>
              <a:ext uri="{FF2B5EF4-FFF2-40B4-BE49-F238E27FC236}">
                <a16:creationId xmlns:a16="http://schemas.microsoft.com/office/drawing/2014/main" id="{93A4691B-2D9F-4647-9D3E-42EE87623D59}"/>
              </a:ext>
            </a:extLst>
          </p:cNvPr>
          <p:cNvSpPr>
            <a:spLocks noGrp="1"/>
          </p:cNvSpPr>
          <p:nvPr>
            <p:ph type="body" sz="half" idx="2"/>
          </p:nvPr>
        </p:nvSpPr>
        <p:spPr>
          <a:xfrm>
            <a:off x="839788" y="2057400"/>
            <a:ext cx="8787538" cy="3811588"/>
          </a:xfrm>
        </p:spPr>
        <p:txBody>
          <a:bodyPr/>
          <a:lstStyle/>
          <a:p>
            <a:pPr marL="285750" indent="-285750">
              <a:buFont typeface="Arial" panose="020B0604020202020204" pitchFamily="34" charset="0"/>
              <a:buChar char="•"/>
            </a:pPr>
            <a:r>
              <a:rPr lang="en-US" dirty="0"/>
              <a:t>Develop a prediction based on the data. What variations in temperature and humidity do you expect over the next few hours or days? How would humidity change if the temperature goes up or down?</a:t>
            </a:r>
          </a:p>
          <a:p>
            <a:pPr marL="285750" indent="-285750">
              <a:buFont typeface="Arial" panose="020B0604020202020204" pitchFamily="34" charset="0"/>
              <a:buChar char="•"/>
            </a:pPr>
            <a:r>
              <a:rPr lang="en-US" dirty="0"/>
              <a:t>I predict that if the temperature decreases and the humidity increases, we may see rain and flooding shortly here in Minnesota.</a:t>
            </a:r>
          </a:p>
          <a:p>
            <a:endParaRPr lang="en-US" dirty="0"/>
          </a:p>
        </p:txBody>
      </p:sp>
    </p:spTree>
    <p:extLst>
      <p:ext uri="{BB962C8B-B14F-4D97-AF65-F5344CB8AC3E}">
        <p14:creationId xmlns:p14="http://schemas.microsoft.com/office/powerpoint/2010/main" val="82809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F2474-3123-D454-CB07-F30497F4023A}"/>
              </a:ext>
            </a:extLst>
          </p:cNvPr>
          <p:cNvSpPr>
            <a:spLocks noGrp="1"/>
          </p:cNvSpPr>
          <p:nvPr>
            <p:ph type="title"/>
          </p:nvPr>
        </p:nvSpPr>
        <p:spPr>
          <a:xfrm>
            <a:off x="414823" y="934065"/>
            <a:ext cx="5681177" cy="1907458"/>
          </a:xfrm>
        </p:spPr>
        <p:txBody>
          <a:bodyPr/>
          <a:lstStyle/>
          <a:p>
            <a:r>
              <a:rPr lang="en-US" dirty="0"/>
              <a:t>Formatdata2.csv</a:t>
            </a:r>
          </a:p>
        </p:txBody>
      </p:sp>
      <p:pic>
        <p:nvPicPr>
          <p:cNvPr id="5" name="Picture 4">
            <a:extLst>
              <a:ext uri="{FF2B5EF4-FFF2-40B4-BE49-F238E27FC236}">
                <a16:creationId xmlns:a16="http://schemas.microsoft.com/office/drawing/2014/main" id="{C5411830-0AE7-1279-0CB2-E3B5273CC90A}"/>
              </a:ext>
            </a:extLst>
          </p:cNvPr>
          <p:cNvPicPr>
            <a:picLocks noChangeAspect="1"/>
          </p:cNvPicPr>
          <p:nvPr/>
        </p:nvPicPr>
        <p:blipFill>
          <a:blip r:embed="rId2"/>
          <a:stretch>
            <a:fillRect/>
          </a:stretch>
        </p:blipFill>
        <p:spPr>
          <a:xfrm>
            <a:off x="6096000" y="613688"/>
            <a:ext cx="4883432" cy="5630624"/>
          </a:xfrm>
          <a:prstGeom prst="rect">
            <a:avLst/>
          </a:prstGeom>
        </p:spPr>
      </p:pic>
    </p:spTree>
    <p:extLst>
      <p:ext uri="{BB962C8B-B14F-4D97-AF65-F5344CB8AC3E}">
        <p14:creationId xmlns:p14="http://schemas.microsoft.com/office/powerpoint/2010/main" val="1947379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72EBF-8AB0-A42B-9E5E-CD5A1D32CFC7}"/>
              </a:ext>
            </a:extLst>
          </p:cNvPr>
          <p:cNvSpPr>
            <a:spLocks noGrp="1"/>
          </p:cNvSpPr>
          <p:nvPr>
            <p:ph type="title"/>
          </p:nvPr>
        </p:nvSpPr>
        <p:spPr/>
        <p:txBody>
          <a:bodyPr/>
          <a:lstStyle/>
          <a:p>
            <a:r>
              <a:rPr lang="en-US" dirty="0"/>
              <a:t>Formatdata1.csv</a:t>
            </a:r>
          </a:p>
        </p:txBody>
      </p:sp>
      <p:pic>
        <p:nvPicPr>
          <p:cNvPr id="9" name="Picture 8">
            <a:extLst>
              <a:ext uri="{FF2B5EF4-FFF2-40B4-BE49-F238E27FC236}">
                <a16:creationId xmlns:a16="http://schemas.microsoft.com/office/drawing/2014/main" id="{445AFEE4-4BCE-B3D1-67BB-3B3F2C2A6EE8}"/>
              </a:ext>
            </a:extLst>
          </p:cNvPr>
          <p:cNvPicPr>
            <a:picLocks noChangeAspect="1"/>
          </p:cNvPicPr>
          <p:nvPr/>
        </p:nvPicPr>
        <p:blipFill>
          <a:blip r:embed="rId2"/>
          <a:stretch>
            <a:fillRect/>
          </a:stretch>
        </p:blipFill>
        <p:spPr>
          <a:xfrm>
            <a:off x="7182854" y="85380"/>
            <a:ext cx="3397254" cy="6648564"/>
          </a:xfrm>
          <a:prstGeom prst="rect">
            <a:avLst/>
          </a:prstGeom>
        </p:spPr>
      </p:pic>
    </p:spTree>
    <p:extLst>
      <p:ext uri="{BB962C8B-B14F-4D97-AF65-F5344CB8AC3E}">
        <p14:creationId xmlns:p14="http://schemas.microsoft.com/office/powerpoint/2010/main" val="4054999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p:txBody>
          <a:bodyPr/>
          <a:lstStyle/>
          <a:p>
            <a:r>
              <a:rPr lang="en-US" i="1" dirty="0"/>
              <a:t>Challenges</a:t>
            </a:r>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1091381" y="1936955"/>
            <a:ext cx="4906296" cy="4006645"/>
          </a:xfrm>
        </p:spPr>
        <p:txBody>
          <a:bodyPr/>
          <a:lstStyle/>
          <a:p>
            <a:pPr marL="0" indent="0">
              <a:buNone/>
            </a:pPr>
            <a:r>
              <a:rPr lang="en-US" dirty="0"/>
              <a:t>Challenges were using Replit at first and understanding the weather data.</a:t>
            </a:r>
          </a:p>
          <a:p>
            <a:pPr marL="0" indent="0">
              <a:buNone/>
            </a:pPr>
            <a:endParaRPr lang="en-US" dirty="0"/>
          </a:p>
          <a:p>
            <a:pPr marL="0" indent="0">
              <a:buNone/>
            </a:pPr>
            <a:r>
              <a:rPr lang="en-US" dirty="0"/>
              <a:t>Learning to write code in Python and execute the code needed to be in the same directory as the weather. db.</a:t>
            </a:r>
          </a:p>
          <a:p>
            <a:pPr marL="0" indent="0">
              <a:buNone/>
            </a:pPr>
            <a:endParaRPr lang="en-US" dirty="0"/>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26</a:t>
            </a:fld>
            <a:endParaRPr lang="en-US" dirty="0"/>
          </a:p>
        </p:txBody>
      </p:sp>
    </p:spTree>
    <p:extLst>
      <p:ext uri="{BB962C8B-B14F-4D97-AF65-F5344CB8AC3E}">
        <p14:creationId xmlns:p14="http://schemas.microsoft.com/office/powerpoint/2010/main" val="3748348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104AE-479A-876E-D6F3-11F247A28B9C}"/>
              </a:ext>
            </a:extLst>
          </p:cNvPr>
          <p:cNvSpPr>
            <a:spLocks noGrp="1"/>
          </p:cNvSpPr>
          <p:nvPr>
            <p:ph type="title"/>
          </p:nvPr>
        </p:nvSpPr>
        <p:spPr>
          <a:xfrm>
            <a:off x="890337" y="541421"/>
            <a:ext cx="6388768" cy="1179095"/>
          </a:xfrm>
        </p:spPr>
        <p:txBody>
          <a:bodyPr/>
          <a:lstStyle/>
          <a:p>
            <a:r>
              <a:rPr lang="en-US" dirty="0"/>
              <a:t>Career Skills</a:t>
            </a:r>
          </a:p>
        </p:txBody>
      </p:sp>
      <p:sp>
        <p:nvSpPr>
          <p:cNvPr id="3" name="Text Placeholder 2">
            <a:extLst>
              <a:ext uri="{FF2B5EF4-FFF2-40B4-BE49-F238E27FC236}">
                <a16:creationId xmlns:a16="http://schemas.microsoft.com/office/drawing/2014/main" id="{9D2ECD47-6064-AA12-8859-848889C5E813}"/>
              </a:ext>
            </a:extLst>
          </p:cNvPr>
          <p:cNvSpPr>
            <a:spLocks noGrp="1"/>
          </p:cNvSpPr>
          <p:nvPr>
            <p:ph type="body" sz="quarter" idx="13"/>
          </p:nvPr>
        </p:nvSpPr>
        <p:spPr>
          <a:xfrm>
            <a:off x="1162808" y="2106612"/>
            <a:ext cx="8109772" cy="2644775"/>
          </a:xfrm>
        </p:spPr>
        <p:txBody>
          <a:bodyPr/>
          <a:lstStyle/>
          <a:p>
            <a:r>
              <a:rPr lang="en-US" dirty="0"/>
              <a:t>Programming using python</a:t>
            </a:r>
          </a:p>
          <a:p>
            <a:r>
              <a:rPr lang="en-US" dirty="0"/>
              <a:t> it support</a:t>
            </a:r>
          </a:p>
          <a:p>
            <a:r>
              <a:rPr lang="en-US" dirty="0"/>
              <a:t>Coding and Networking</a:t>
            </a:r>
          </a:p>
          <a:p>
            <a:r>
              <a:rPr lang="en-US" dirty="0"/>
              <a:t>Communication</a:t>
            </a:r>
          </a:p>
          <a:p>
            <a:r>
              <a:rPr lang="en-US" dirty="0"/>
              <a:t>Analysis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5273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US" i="1" dirty="0"/>
              <a:t>Conclusion </a:t>
            </a:r>
          </a:p>
        </p:txBody>
      </p:sp>
      <p:sp>
        <p:nvSpPr>
          <p:cNvPr id="4" name="Content Placeholder 3">
            <a:extLst>
              <a:ext uri="{FF2B5EF4-FFF2-40B4-BE49-F238E27FC236}">
                <a16:creationId xmlns:a16="http://schemas.microsoft.com/office/drawing/2014/main" id="{C3C97C4A-384E-00F7-4010-0E4D4D8DF85A}"/>
              </a:ext>
            </a:extLst>
          </p:cNvPr>
          <p:cNvSpPr>
            <a:spLocks noGrp="1"/>
          </p:cNvSpPr>
          <p:nvPr>
            <p:ph sz="quarter" idx="12"/>
          </p:nvPr>
        </p:nvSpPr>
        <p:spPr/>
        <p:txBody>
          <a:bodyPr/>
          <a:lstStyle/>
          <a:p>
            <a:r>
              <a:rPr lang="en-US" dirty="0"/>
              <a:t>This project covered the fundamental topics of programming with data by using data gathered from the cloud service to perform data analytics operations.</a:t>
            </a:r>
          </a:p>
        </p:txBody>
      </p:sp>
    </p:spTree>
    <p:extLst>
      <p:ext uri="{BB962C8B-B14F-4D97-AF65-F5344CB8AC3E}">
        <p14:creationId xmlns:p14="http://schemas.microsoft.com/office/powerpoint/2010/main" val="859909800"/>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5B1713EE20DE4D98BCF937FB00A60F" ma:contentTypeVersion="9" ma:contentTypeDescription="Create a new document." ma:contentTypeScope="" ma:versionID="95c450323821cc1d4051d210e5947c1a">
  <xsd:schema xmlns:xsd="http://www.w3.org/2001/XMLSchema" xmlns:xs="http://www.w3.org/2001/XMLSchema" xmlns:p="http://schemas.microsoft.com/office/2006/metadata/properties" xmlns:ns3="fbc29ae4-81f8-4025-880a-ffa9b50e0cb6" targetNamespace="http://schemas.microsoft.com/office/2006/metadata/properties" ma:root="true" ma:fieldsID="486ff362375949c6ea1771bdbab3b81d" ns3:_="">
    <xsd:import namespace="fbc29ae4-81f8-4025-880a-ffa9b50e0cb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c29ae4-81f8-4025-880a-ffa9b50e0c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CEFDD59-7235-4166-805E-1F9A4ED325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c29ae4-81f8-4025-880a-ffa9b50e0c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fbc29ae4-81f8-4025-880a-ffa9b50e0cb6"/>
    <ds:schemaRef ds:uri="http://schemas.microsoft.com/office/infopath/2007/PartnerControls"/>
    <ds:schemaRef ds:uri="http://purl.org/dc/dcmitype/"/>
    <ds:schemaRef ds:uri="http://purl.org/dc/terms/"/>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{F22E8D76-8677-4F4B-BE08-FEA1B468A9B1}tf11964407_win32</Template>
  <TotalTime>83</TotalTime>
  <Words>575</Words>
  <Application>Microsoft Office PowerPoint</Application>
  <PresentationFormat>Widescreen</PresentationFormat>
  <Paragraphs>112</Paragraphs>
  <Slides>28</Slides>
  <Notes>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28</vt:i4>
      </vt:variant>
    </vt:vector>
  </HeadingPairs>
  <TitlesOfParts>
    <vt:vector size="38" baseType="lpstr">
      <vt:lpstr>Arial</vt:lpstr>
      <vt:lpstr>Calibri</vt:lpstr>
      <vt:lpstr>Calibri Light</vt:lpstr>
      <vt:lpstr>Courier New</vt:lpstr>
      <vt:lpstr>Gill Sans Nova Light</vt:lpstr>
      <vt:lpstr>LatoWeb</vt:lpstr>
      <vt:lpstr>Sagona Book</vt:lpstr>
      <vt:lpstr>Times New Roman</vt:lpstr>
      <vt:lpstr>Custom</vt:lpstr>
      <vt:lpstr>Office Theme</vt:lpstr>
      <vt:lpstr>CEIS110  Programming with Data Professor Dr. Sapijaszko Date 8/31/2024 By, April Wytaske  </vt:lpstr>
      <vt:lpstr>       Introduction  Data is growing worldwide.  This project used a cloud-based system to gather temperature and humidity data.  Then the data was analyzed using programming and data analyses.</vt:lpstr>
      <vt:lpstr>Software Used</vt:lpstr>
      <vt:lpstr>Module 2</vt:lpstr>
      <vt:lpstr>Flowchart</vt:lpstr>
      <vt:lpstr>Python program (Screenshot)</vt:lpstr>
      <vt:lpstr>Module 3</vt:lpstr>
      <vt:lpstr>BuildWeatherDb.py Code (Screenshot)</vt:lpstr>
      <vt:lpstr>Python Console (Screenshot)</vt:lpstr>
      <vt:lpstr>Weather.db File (Screenshot)</vt:lpstr>
      <vt:lpstr>Module 4</vt:lpstr>
      <vt:lpstr>Query to retrieve all columns and all rows (Screenshot)</vt:lpstr>
      <vt:lpstr>Query to retrieve lowest and highest temperatures (Screenshot)</vt:lpstr>
      <vt:lpstr>Query to retrieve all clear days (Screenshot)</vt:lpstr>
      <vt:lpstr>Module 5</vt:lpstr>
      <vt:lpstr>Python code (Screenshot or file)</vt:lpstr>
      <vt:lpstr>Retrieve and Convert Data to CSV Format (Screenshot)</vt:lpstr>
      <vt:lpstr>Temperature and Humidity Chart (Graph)</vt:lpstr>
      <vt:lpstr>Module 6</vt:lpstr>
      <vt:lpstr>Plot #1</vt:lpstr>
      <vt:lpstr>Plot #2 (Screenshots)</vt:lpstr>
      <vt:lpstr>Analysis </vt:lpstr>
      <vt:lpstr>Prediction </vt:lpstr>
      <vt:lpstr>Formatdata2.csv</vt:lpstr>
      <vt:lpstr>Formatdata1.csv</vt:lpstr>
      <vt:lpstr>Challenges</vt:lpstr>
      <vt:lpstr>Career Skills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Hinze, April</dc:creator>
  <cp:lastModifiedBy>April Cardenas</cp:lastModifiedBy>
  <cp:revision>2</cp:revision>
  <dcterms:created xsi:type="dcterms:W3CDTF">2024-09-01T01:53:44Z</dcterms:created>
  <dcterms:modified xsi:type="dcterms:W3CDTF">2025-12-04T01:00:08Z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0x010100535B1713EE20DE4D98BCF937FB00A60F</vt:lpwstr>
  </property>
  <property fmtid="{D5CDD505-2E9C-101B-9397-08002B2CF9AE}" pid="3" name="MediaServiceImageTags">
    <vt:lpwstr/>
  </property>
</Properties>
</file>